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319" r:id="rId3"/>
    <p:sldId id="284" r:id="rId4"/>
    <p:sldId id="338" r:id="rId5"/>
    <p:sldId id="322" r:id="rId6"/>
    <p:sldId id="347" r:id="rId7"/>
    <p:sldId id="339" r:id="rId8"/>
    <p:sldId id="342" r:id="rId9"/>
    <p:sldId id="343" r:id="rId10"/>
    <p:sldId id="348" r:id="rId11"/>
    <p:sldId id="344" r:id="rId12"/>
    <p:sldId id="320" r:id="rId13"/>
    <p:sldId id="346" r:id="rId14"/>
    <p:sldId id="257" r:id="rId15"/>
    <p:sldId id="349" r:id="rId16"/>
    <p:sldId id="316" r:id="rId17"/>
    <p:sldId id="350" r:id="rId18"/>
    <p:sldId id="31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945" autoAdjust="0"/>
  </p:normalViewPr>
  <p:slideViewPr>
    <p:cSldViewPr snapToGrid="0">
      <p:cViewPr varScale="1">
        <p:scale>
          <a:sx n="87" d="100"/>
          <a:sy n="87" d="100"/>
        </p:scale>
        <p:origin x="14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CEC10-C05A-47AA-82D6-D3BC4BF6D467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E8E2C-279F-4670-83CE-281DEC4E5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276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220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dirty="0"/>
                  <a:t>Итерация Пикара – это простой способ обработки нелинейных уравнений в частных производных: мы просто используем известное, предыдущее решение в нелинейных членах, чтобы эти члены стали линейными относительной неизвестной переменной </a:t>
                </a:r>
                <a:r>
                  <a:rPr lang="en-US" sz="1200" dirty="0"/>
                  <a:t>u. </a:t>
                </a:r>
                <a:r>
                  <a:rPr lang="ru-RU" sz="1200" dirty="0"/>
                  <a:t>Эта стратегия также известна как метод последовательных подстановок. Для нашей конкретной задачи мы используем известное, предыдущее решение в коэффициенте </a:t>
                </a:r>
                <a:r>
                  <a:rPr lang="en-US" sz="1200" dirty="0"/>
                  <a:t>q(u). </a:t>
                </a:r>
                <a:r>
                  <a:rPr lang="ru-RU" sz="1200" dirty="0"/>
                  <a:t>Более точно,</a:t>
                </a:r>
                <a:r>
                  <a:rPr lang="ru-RU" sz="1200" baseline="0" dirty="0"/>
                  <a:t> у</a:t>
                </a:r>
                <a:r>
                  <a:rPr lang="ru-RU" sz="1200" dirty="0"/>
                  <a:t>читывая решение </a:t>
                </a:r>
                <a:r>
                  <a:rPr lang="en-US" sz="1200" i="0" dirty="0">
                    <a:latin typeface="Cambria Math" panose="02040503050406030204" pitchFamily="18" charset="0"/>
                  </a:rPr>
                  <a:t>𝑢^𝑘</a:t>
                </a:r>
                <a:r>
                  <a:rPr lang="en-US" sz="1200" dirty="0"/>
                  <a:t> </a:t>
                </a:r>
                <a:r>
                  <a:rPr lang="ru-RU" sz="1200" dirty="0"/>
                  <a:t>из итерации</a:t>
                </a:r>
                <a:r>
                  <a:rPr lang="ru-RU" sz="1200" baseline="0" dirty="0"/>
                  <a:t> </a:t>
                </a:r>
                <a:r>
                  <a:rPr lang="en-US" sz="1200" b="0" i="0" baseline="0">
                    <a:latin typeface="Cambria Math" panose="02040503050406030204" pitchFamily="18" charset="0"/>
                  </a:rPr>
                  <a:t>𝑘, </a:t>
                </a:r>
                <a:r>
                  <a:rPr lang="ru-RU" sz="1200" dirty="0"/>
                  <a:t>мы ищем новое решение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𝑢^(𝑘+1)</a:t>
                </a:r>
                <a:r>
                  <a:rPr lang="ru-RU" sz="1200" dirty="0"/>
                  <a:t> в итерации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𝑘+1</a:t>
                </a:r>
                <a:r>
                  <a:rPr lang="ru-RU" sz="1200" b="0" i="0">
                    <a:latin typeface="Cambria Math" panose="02040503050406030204" pitchFamily="18" charset="0"/>
                  </a:rPr>
                  <a:t> </a:t>
                </a:r>
                <a:r>
                  <a:rPr lang="ru-RU" sz="1200" dirty="0"/>
                  <a:t>так, чтобы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𝑢^(𝑘+1)</a:t>
                </a:r>
                <a:r>
                  <a:rPr lang="en-US" sz="1200" dirty="0"/>
                  <a:t> </a:t>
                </a:r>
                <a:r>
                  <a:rPr lang="ru-RU" sz="1200" dirty="0"/>
                  <a:t>решало</a:t>
                </a:r>
                <a:r>
                  <a:rPr lang="ru-RU" sz="1200" baseline="0" dirty="0"/>
                  <a:t> линейную задачу.</a:t>
                </a:r>
                <a:endParaRPr lang="ru-RU" sz="1200" dirty="0"/>
              </a:p>
              <a:p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973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Для итераций нам нужно определить предыдущее решение, </a:t>
                </a:r>
                <a:r>
                  <a:rPr lang="en-US" dirty="0" err="1"/>
                  <a:t>uk</a:t>
                </a:r>
                <a:r>
                  <a:rPr lang="en-US" dirty="0"/>
                  <a:t>, </a:t>
                </a:r>
                <a:r>
                  <a:rPr lang="ru-RU" dirty="0"/>
                  <a:t>как функцию конечных элементов, чтобы затем можно было обновить </a:t>
                </a:r>
                <a:r>
                  <a:rPr lang="en-US" dirty="0" err="1"/>
                  <a:t>uk</a:t>
                </a:r>
                <a:r>
                  <a:rPr lang="en-US" dirty="0"/>
                  <a:t> </a:t>
                </a:r>
                <a:r>
                  <a:rPr lang="ru-RU" dirty="0"/>
                  <a:t>с помощью </a:t>
                </a:r>
                <a:r>
                  <a:rPr lang="en-US" dirty="0"/>
                  <a:t>u </a:t>
                </a:r>
                <a:r>
                  <a:rPr lang="ru-RU" dirty="0"/>
                  <a:t>в конце цикла. Мы можем создать начальную функцию </a:t>
                </a:r>
                <a:r>
                  <a:rPr lang="en-US" dirty="0" err="1"/>
                  <a:t>uk</a:t>
                </a:r>
                <a:r>
                  <a:rPr lang="en-US" dirty="0"/>
                  <a:t>, </a:t>
                </a:r>
                <a:r>
                  <a:rPr lang="ru-RU" dirty="0"/>
                  <a:t>интерполируя выражение (</a:t>
                </a:r>
                <a:r>
                  <a:rPr lang="en-US" dirty="0"/>
                  <a:t>Expression) </a:t>
                </a:r>
                <a:r>
                  <a:rPr lang="ru-RU" dirty="0"/>
                  <a:t>или константу (</a:t>
                </a:r>
                <a:r>
                  <a:rPr lang="en-US" dirty="0"/>
                  <a:t>Constant) </a:t>
                </a:r>
                <a:r>
                  <a:rPr lang="ru-RU" dirty="0"/>
                  <a:t>в том же векторном пространстве, в котором находится </a:t>
                </a:r>
                <a:r>
                  <a:rPr lang="en-US" dirty="0"/>
                  <a:t>u(V).</a:t>
                </a:r>
              </a:p>
              <a:p>
                <a:r>
                  <a:rPr lang="ru-RU" dirty="0"/>
                  <a:t>В коде мы демонстрируем функциональность библиотеки </a:t>
                </a:r>
                <a:r>
                  <a:rPr lang="en-US" dirty="0" err="1"/>
                  <a:t>numpy</a:t>
                </a:r>
                <a:r>
                  <a:rPr lang="en-US" dirty="0"/>
                  <a:t>, </a:t>
                </a:r>
                <a:r>
                  <a:rPr lang="ru-RU" dirty="0"/>
                  <a:t>для вычисления нормы разницы между двумя последними решениями. Здесь мы применяем максимальную норму (норму </a:t>
                </a:r>
                <a:r>
                  <a:rPr lang="en-US" b="0" i="0">
                    <a:latin typeface="Cambria Math" panose="02040503050406030204" pitchFamily="18" charset="0"/>
                  </a:rPr>
                  <a:t>𝑙_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∞</a:t>
                </a:r>
                <a:r>
                  <a:rPr lang="en-US" dirty="0"/>
                  <a:t>) </a:t>
                </a:r>
                <a:r>
                  <a:rPr lang="ru-RU" dirty="0"/>
                  <a:t>к</a:t>
                </a:r>
                <a:r>
                  <a:rPr lang="ru-RU" baseline="0" dirty="0"/>
                  <a:t> разнице векторов решения  (параметры </a:t>
                </a:r>
                <a:r>
                  <a:rPr lang="en-US" baseline="0" dirty="0" err="1"/>
                  <a:t>ord</a:t>
                </a:r>
                <a:r>
                  <a:rPr lang="en-US" baseline="0" dirty="0"/>
                  <a:t>=1, </a:t>
                </a:r>
                <a:r>
                  <a:rPr lang="en-US" baseline="0" dirty="0" err="1"/>
                  <a:t>ord</a:t>
                </a:r>
                <a:r>
                  <a:rPr lang="en-US" baseline="0" dirty="0"/>
                  <a:t>=2 </a:t>
                </a:r>
                <a:r>
                  <a:rPr lang="ru-RU" baseline="0" dirty="0"/>
                  <a:t>дают нормы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𝑙_1</a:t>
                </a:r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ru-RU" baseline="0" dirty="0"/>
                  <a:t>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𝑙_2</a:t>
                </a:r>
                <a:r>
                  <a:rPr lang="ru-RU" dirty="0"/>
                  <a:t> - для массивов</a:t>
                </a:r>
                <a:r>
                  <a:rPr lang="ru-RU" baseline="0" dirty="0"/>
                  <a:t> </a:t>
                </a:r>
                <a:r>
                  <a:rPr lang="en-US" baseline="0" dirty="0" err="1"/>
                  <a:t>numpy</a:t>
                </a:r>
                <a:r>
                  <a:rPr lang="en-US" baseline="0" dirty="0"/>
                  <a:t> </a:t>
                </a:r>
                <a:r>
                  <a:rPr lang="ru-RU" baseline="0" dirty="0"/>
                  <a:t>возможны и другие нормы). </a:t>
                </a:r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162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dirty="0"/>
                  <a:t>Этот подход приводит к линеаризации </a:t>
                </a:r>
                <a:r>
                  <a:rPr lang="ru-RU" sz="1200" dirty="0" err="1"/>
                  <a:t>УрЧП</a:t>
                </a:r>
                <a:r>
                  <a:rPr lang="ru-RU" sz="1200" dirty="0"/>
                  <a:t> до их дискретизации.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dirty="0"/>
                  <a:t>После первого предложения: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dirty="0"/>
                  <a:t>Тем не менее, задача для </a:t>
                </a:r>
                <a:r>
                  <a:rPr lang="ru-RU" sz="1200" b="0" i="0">
                    <a:latin typeface="Cambria Math" panose="02040503050406030204" pitchFamily="18" charset="0"/>
                  </a:rPr>
                  <a:t>𝛿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𝑢</a:t>
                </a:r>
                <a:r>
                  <a:rPr lang="en-US" dirty="0"/>
                  <a:t> </a:t>
                </a:r>
                <a:r>
                  <a:rPr lang="ru-RU" dirty="0"/>
                  <a:t>все</a:t>
                </a:r>
                <a:r>
                  <a:rPr lang="ru-RU" baseline="0" dirty="0"/>
                  <a:t> равно остается нелинейной, и ничего не достигается. Идея заключается в том, чтобы предположить, что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𝛿𝑢 </a:t>
                </a:r>
                <a:r>
                  <a:rPr lang="ru-RU" dirty="0"/>
                  <a:t>достаточно</a:t>
                </a:r>
                <a:r>
                  <a:rPr lang="ru-RU" baseline="0" dirty="0"/>
                  <a:t> мал, чтобы мы могли линеаризовать проблему относительно </a:t>
                </a:r>
                <a:r>
                  <a:rPr lang="ru-RU" b="0" i="0" baseline="0">
                    <a:latin typeface="Cambria Math" panose="02040503050406030204" pitchFamily="18" charset="0"/>
                  </a:rPr>
                  <a:t>𝛿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𝑢.</a:t>
                </a:r>
                <a:r>
                  <a:rPr lang="en-US" dirty="0"/>
                  <a:t> </a:t>
                </a:r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782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dirty="0"/>
                  <a:t>Этот подход приводит к линеаризации </a:t>
                </a:r>
                <a:r>
                  <a:rPr lang="ru-RU" sz="1200" dirty="0" err="1"/>
                  <a:t>УрЧП</a:t>
                </a:r>
                <a:r>
                  <a:rPr lang="ru-RU" sz="1200" dirty="0"/>
                  <a:t> до их дискретизации.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dirty="0"/>
                  <a:t>После первого предложения: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dirty="0"/>
                  <a:t>Тем не менее, задача для </a:t>
                </a:r>
                <a:r>
                  <a:rPr lang="ru-RU" sz="1200" b="0" i="0">
                    <a:latin typeface="Cambria Math" panose="02040503050406030204" pitchFamily="18" charset="0"/>
                  </a:rPr>
                  <a:t>𝛿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𝑢</a:t>
                </a:r>
                <a:r>
                  <a:rPr lang="en-US" dirty="0"/>
                  <a:t> </a:t>
                </a:r>
                <a:r>
                  <a:rPr lang="ru-RU" dirty="0"/>
                  <a:t>все</a:t>
                </a:r>
                <a:r>
                  <a:rPr lang="ru-RU" baseline="0" dirty="0"/>
                  <a:t> равно остается нелинейной, и ничего не достигается. Идея заключается в том, чтобы предположить, что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𝛿𝑢 </a:t>
                </a:r>
                <a:r>
                  <a:rPr lang="ru-RU" dirty="0"/>
                  <a:t>достаточно</a:t>
                </a:r>
                <a:r>
                  <a:rPr lang="ru-RU" baseline="0" dirty="0"/>
                  <a:t> мал, чтобы мы могли линеаризовать проблему относительно </a:t>
                </a:r>
                <a:r>
                  <a:rPr lang="ru-RU" b="0" i="0" baseline="0">
                    <a:latin typeface="Cambria Math" panose="02040503050406030204" pitchFamily="18" charset="0"/>
                  </a:rPr>
                  <a:t>𝛿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𝑢.</a:t>
                </a:r>
                <a:r>
                  <a:rPr lang="en-US" dirty="0"/>
                  <a:t> </a:t>
                </a:r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593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958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dirty="0"/>
                  <a:t>В конце: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𝛿𝑢− </a:t>
                </a:r>
                <a:r>
                  <a:rPr lang="ru-RU" dirty="0"/>
                  <a:t>это</a:t>
                </a:r>
                <a:r>
                  <a:rPr lang="ru-RU" baseline="0" dirty="0"/>
                  <a:t> коррекция, поэтому если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𝑢^0</a:t>
                </a:r>
                <a:r>
                  <a:rPr lang="en-US" dirty="0"/>
                  <a:t> </a:t>
                </a:r>
                <a:r>
                  <a:rPr lang="ru-RU" dirty="0"/>
                  <a:t>удовлетворяет заданным граничным</a:t>
                </a:r>
                <a:r>
                  <a:rPr lang="ru-RU" baseline="0" dirty="0"/>
                  <a:t> условиям Дирихле на </a:t>
                </a:r>
                <a:r>
                  <a:rPr lang="ru-RU" b="0" i="0" baseline="0">
                    <a:latin typeface="Cambria Math" panose="02040503050406030204" pitchFamily="18" charset="0"/>
                  </a:rPr>
                  <a:t>Γ_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1</a:t>
                </a:r>
                <a:r>
                  <a:rPr lang="en-US" dirty="0"/>
                  <a:t> </a:t>
                </a:r>
                <a:r>
                  <a:rPr lang="ru-RU" dirty="0"/>
                  <a:t>и </a:t>
                </a:r>
                <a:r>
                  <a:rPr lang="en-US" b="0" i="0">
                    <a:latin typeface="Cambria Math" panose="02040503050406030204" pitchFamily="18" charset="0"/>
                  </a:rPr>
                  <a:t>Γ_2</a:t>
                </a:r>
                <a:r>
                  <a:rPr lang="ru-RU" b="0" i="0">
                    <a:latin typeface="Cambria Math" panose="02040503050406030204" pitchFamily="18" charset="0"/>
                  </a:rPr>
                  <a:t>,</a:t>
                </a:r>
                <a:r>
                  <a:rPr lang="ru-RU" dirty="0"/>
                  <a:t> то мы должны требовать </a:t>
                </a:r>
                <a:r>
                  <a:rPr lang="ru-RU" b="0" i="0">
                    <a:latin typeface="Cambria Math" panose="02040503050406030204" pitchFamily="18" charset="0"/>
                  </a:rPr>
                  <a:t>𝛿</a:t>
                </a:r>
                <a:r>
                  <a:rPr lang="en-US" b="0" i="0">
                    <a:latin typeface="Cambria Math" panose="02040503050406030204" pitchFamily="18" charset="0"/>
                  </a:rPr>
                  <a:t>𝑢=0</a:t>
                </a:r>
                <a:r>
                  <a:rPr lang="en-US" dirty="0"/>
                  <a:t> </a:t>
                </a:r>
                <a:r>
                  <a:rPr lang="en-US" b="0" i="0" dirty="0">
                    <a:latin typeface="Cambria Math" panose="02040503050406030204" pitchFamily="18" charset="0"/>
                  </a:rPr>
                  <a:t>𝑥∈Γ_1∪Γ_2.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112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Для итераций нам нужно определить предыдущее решение, </a:t>
                </a:r>
                <a:r>
                  <a:rPr lang="en-US" dirty="0" err="1"/>
                  <a:t>uk</a:t>
                </a:r>
                <a:r>
                  <a:rPr lang="en-US" dirty="0"/>
                  <a:t>, </a:t>
                </a:r>
                <a:r>
                  <a:rPr lang="ru-RU" dirty="0"/>
                  <a:t>как функцию конечных элементов, чтобы затем можно было обновить </a:t>
                </a:r>
                <a:r>
                  <a:rPr lang="en-US" dirty="0" err="1"/>
                  <a:t>uk</a:t>
                </a:r>
                <a:r>
                  <a:rPr lang="en-US" dirty="0"/>
                  <a:t> </a:t>
                </a:r>
                <a:r>
                  <a:rPr lang="ru-RU" dirty="0"/>
                  <a:t>с помощью </a:t>
                </a:r>
                <a:r>
                  <a:rPr lang="en-US" dirty="0"/>
                  <a:t>u </a:t>
                </a:r>
                <a:r>
                  <a:rPr lang="ru-RU" dirty="0"/>
                  <a:t>в конце цикла. Мы можем создать начальную функцию </a:t>
                </a:r>
                <a:r>
                  <a:rPr lang="en-US" dirty="0" err="1"/>
                  <a:t>uk</a:t>
                </a:r>
                <a:r>
                  <a:rPr lang="en-US" dirty="0"/>
                  <a:t>, </a:t>
                </a:r>
                <a:r>
                  <a:rPr lang="ru-RU" dirty="0"/>
                  <a:t>интерполируя выражение (</a:t>
                </a:r>
                <a:r>
                  <a:rPr lang="en-US" dirty="0"/>
                  <a:t>Expression) </a:t>
                </a:r>
                <a:r>
                  <a:rPr lang="ru-RU" dirty="0"/>
                  <a:t>или константу (</a:t>
                </a:r>
                <a:r>
                  <a:rPr lang="en-US" dirty="0"/>
                  <a:t>Constant) </a:t>
                </a:r>
                <a:r>
                  <a:rPr lang="ru-RU" dirty="0"/>
                  <a:t>в том же векторном пространстве, в котором находится </a:t>
                </a:r>
                <a:r>
                  <a:rPr lang="en-US" dirty="0"/>
                  <a:t>u(V).</a:t>
                </a:r>
              </a:p>
              <a:p>
                <a:r>
                  <a:rPr lang="ru-RU" dirty="0"/>
                  <a:t>В коде мы демонстрируем функциональность библиотеки </a:t>
                </a:r>
                <a:r>
                  <a:rPr lang="en-US" dirty="0" err="1"/>
                  <a:t>numpy</a:t>
                </a:r>
                <a:r>
                  <a:rPr lang="en-US" dirty="0"/>
                  <a:t>, </a:t>
                </a:r>
                <a:r>
                  <a:rPr lang="ru-RU" dirty="0"/>
                  <a:t>для вычисления нормы разницы между двумя последними решениями. Здесь мы применяем максимальную норму (норму </a:t>
                </a:r>
                <a:r>
                  <a:rPr lang="en-US" b="0" i="0">
                    <a:latin typeface="Cambria Math" panose="02040503050406030204" pitchFamily="18" charset="0"/>
                  </a:rPr>
                  <a:t>𝑙_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∞</a:t>
                </a:r>
                <a:r>
                  <a:rPr lang="en-US" dirty="0"/>
                  <a:t>) </a:t>
                </a:r>
                <a:r>
                  <a:rPr lang="ru-RU" dirty="0"/>
                  <a:t>к</a:t>
                </a:r>
                <a:r>
                  <a:rPr lang="ru-RU" baseline="0" dirty="0"/>
                  <a:t> разнице векторов решения  (параметры </a:t>
                </a:r>
                <a:r>
                  <a:rPr lang="en-US" baseline="0" dirty="0" err="1"/>
                  <a:t>ord</a:t>
                </a:r>
                <a:r>
                  <a:rPr lang="en-US" baseline="0" dirty="0"/>
                  <a:t>=1, </a:t>
                </a:r>
                <a:r>
                  <a:rPr lang="en-US" baseline="0" dirty="0" err="1"/>
                  <a:t>ord</a:t>
                </a:r>
                <a:r>
                  <a:rPr lang="en-US" baseline="0" dirty="0"/>
                  <a:t>=2 </a:t>
                </a:r>
                <a:r>
                  <a:rPr lang="ru-RU" baseline="0" dirty="0"/>
                  <a:t>дают нормы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𝑙_1</a:t>
                </a:r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ru-RU" baseline="0" dirty="0"/>
                  <a:t>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𝑙_2</a:t>
                </a:r>
                <a:r>
                  <a:rPr lang="ru-RU" dirty="0"/>
                  <a:t> - для массивов</a:t>
                </a:r>
                <a:r>
                  <a:rPr lang="ru-RU" baseline="0" dirty="0"/>
                  <a:t> </a:t>
                </a:r>
                <a:r>
                  <a:rPr lang="en-US" baseline="0" dirty="0" err="1"/>
                  <a:t>numpy</a:t>
                </a:r>
                <a:r>
                  <a:rPr lang="en-US" baseline="0" dirty="0"/>
                  <a:t> </a:t>
                </a:r>
                <a:r>
                  <a:rPr lang="ru-RU" baseline="0" dirty="0"/>
                  <a:t>возможны и другие нормы). </a:t>
                </a:r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413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Для итераций нам нужно определить предыдущее решение, </a:t>
                </a:r>
                <a:r>
                  <a:rPr lang="en-US" dirty="0" err="1"/>
                  <a:t>uk</a:t>
                </a:r>
                <a:r>
                  <a:rPr lang="en-US" dirty="0"/>
                  <a:t>, </a:t>
                </a:r>
                <a:r>
                  <a:rPr lang="ru-RU" dirty="0"/>
                  <a:t>как функцию конечных элементов, чтобы затем можно было обновить </a:t>
                </a:r>
                <a:r>
                  <a:rPr lang="en-US" dirty="0" err="1"/>
                  <a:t>uk</a:t>
                </a:r>
                <a:r>
                  <a:rPr lang="en-US" dirty="0"/>
                  <a:t> </a:t>
                </a:r>
                <a:r>
                  <a:rPr lang="ru-RU" dirty="0"/>
                  <a:t>с помощью </a:t>
                </a:r>
                <a:r>
                  <a:rPr lang="en-US" dirty="0"/>
                  <a:t>u </a:t>
                </a:r>
                <a:r>
                  <a:rPr lang="ru-RU" dirty="0"/>
                  <a:t>в конце цикла. Мы можем создать начальную функцию </a:t>
                </a:r>
                <a:r>
                  <a:rPr lang="en-US" dirty="0" err="1"/>
                  <a:t>uk</a:t>
                </a:r>
                <a:r>
                  <a:rPr lang="en-US" dirty="0"/>
                  <a:t>, </a:t>
                </a:r>
                <a:r>
                  <a:rPr lang="ru-RU" dirty="0"/>
                  <a:t>интерполируя выражение (</a:t>
                </a:r>
                <a:r>
                  <a:rPr lang="en-US" dirty="0"/>
                  <a:t>Expression) </a:t>
                </a:r>
                <a:r>
                  <a:rPr lang="ru-RU" dirty="0"/>
                  <a:t>или константу (</a:t>
                </a:r>
                <a:r>
                  <a:rPr lang="en-US" dirty="0"/>
                  <a:t>Constant) </a:t>
                </a:r>
                <a:r>
                  <a:rPr lang="ru-RU" dirty="0"/>
                  <a:t>в том же векторном пространстве, в котором находится </a:t>
                </a:r>
                <a:r>
                  <a:rPr lang="en-US" dirty="0"/>
                  <a:t>u(V).</a:t>
                </a:r>
              </a:p>
              <a:p>
                <a:r>
                  <a:rPr lang="ru-RU" dirty="0"/>
                  <a:t>В коде мы демонстрируем функциональность библиотеки </a:t>
                </a:r>
                <a:r>
                  <a:rPr lang="en-US" dirty="0" err="1"/>
                  <a:t>numpy</a:t>
                </a:r>
                <a:r>
                  <a:rPr lang="en-US" dirty="0"/>
                  <a:t>, </a:t>
                </a:r>
                <a:r>
                  <a:rPr lang="ru-RU" dirty="0"/>
                  <a:t>для вычисления нормы разницы между двумя последними решениями. Здесь мы применяем максимальную норму (норму </a:t>
                </a:r>
                <a:r>
                  <a:rPr lang="en-US" b="0" i="0">
                    <a:latin typeface="Cambria Math" panose="02040503050406030204" pitchFamily="18" charset="0"/>
                  </a:rPr>
                  <a:t>𝑙_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∞</a:t>
                </a:r>
                <a:r>
                  <a:rPr lang="en-US" dirty="0"/>
                  <a:t>) </a:t>
                </a:r>
                <a:r>
                  <a:rPr lang="ru-RU" dirty="0"/>
                  <a:t>к</a:t>
                </a:r>
                <a:r>
                  <a:rPr lang="ru-RU" baseline="0" dirty="0"/>
                  <a:t> разнице векторов решения  (параметры </a:t>
                </a:r>
                <a:r>
                  <a:rPr lang="en-US" baseline="0" dirty="0" err="1"/>
                  <a:t>ord</a:t>
                </a:r>
                <a:r>
                  <a:rPr lang="en-US" baseline="0" dirty="0"/>
                  <a:t>=1, </a:t>
                </a:r>
                <a:r>
                  <a:rPr lang="en-US" baseline="0" dirty="0" err="1"/>
                  <a:t>ord</a:t>
                </a:r>
                <a:r>
                  <a:rPr lang="en-US" baseline="0" dirty="0"/>
                  <a:t>=2 </a:t>
                </a:r>
                <a:r>
                  <a:rPr lang="ru-RU" baseline="0" dirty="0"/>
                  <a:t>дают нормы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𝑙_1</a:t>
                </a:r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ru-RU" baseline="0" dirty="0"/>
                  <a:t>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𝑙_2</a:t>
                </a:r>
                <a:r>
                  <a:rPr lang="ru-RU" dirty="0"/>
                  <a:t> - для массивов</a:t>
                </a:r>
                <a:r>
                  <a:rPr lang="ru-RU" baseline="0" dirty="0"/>
                  <a:t> </a:t>
                </a:r>
                <a:r>
                  <a:rPr lang="en-US" baseline="0" dirty="0" err="1"/>
                  <a:t>numpy</a:t>
                </a:r>
                <a:r>
                  <a:rPr lang="en-US" baseline="0" dirty="0"/>
                  <a:t> </a:t>
                </a:r>
                <a:r>
                  <a:rPr lang="ru-RU" baseline="0" dirty="0"/>
                  <a:t>возможны и другие нормы). </a:t>
                </a:r>
                <a:endParaRPr lang="ru-RU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22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258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5371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77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44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99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16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07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02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14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9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42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91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09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1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083CA84-5427-410A-9B6F-78174845156C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46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2BC1B-B54C-4AF6-A758-A8E007EFD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10088880" cy="3035808"/>
          </a:xfrm>
        </p:spPr>
        <p:txBody>
          <a:bodyPr/>
          <a:lstStyle/>
          <a:p>
            <a:r>
              <a:rPr lang="ru-RU" sz="4800" dirty="0"/>
              <a:t>Нелинейные уравнения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CFB13B-C16D-4407-BB11-F48A25659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355929"/>
            <a:ext cx="7891272" cy="1069848"/>
          </a:xfrm>
        </p:spPr>
        <p:txBody>
          <a:bodyPr/>
          <a:lstStyle/>
          <a:p>
            <a:r>
              <a:rPr lang="ru-RU" dirty="0"/>
              <a:t>Алексеев Валентин Николаевич</a:t>
            </a:r>
          </a:p>
        </p:txBody>
      </p:sp>
    </p:spTree>
    <p:extLst>
      <p:ext uri="{BB962C8B-B14F-4D97-AF65-F5344CB8AC3E}">
        <p14:creationId xmlns:p14="http://schemas.microsoft.com/office/powerpoint/2010/main" val="15702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9" y="2121408"/>
                <a:ext cx="5379077" cy="405079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Рассмотрим нелинейное эллиптическое уравнение в двумерной постановке в области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u-RU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)∇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Пусть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2400" b="0" dirty="0"/>
              </a:p>
              <a:p>
                <a:pPr marL="0" indent="0">
                  <a:buNone/>
                </a:pPr>
                <a:r>
                  <a:rPr lang="ru-RU" sz="2400" dirty="0"/>
                  <a:t>Точное решение следующее: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9" y="2121408"/>
                <a:ext cx="5379077" cy="4050792"/>
              </a:xfrm>
              <a:blipFill>
                <a:blip r:embed="rId3"/>
                <a:stretch>
                  <a:fillRect l="-1814" t="-2105" b="-27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88339A-AE7F-4CE6-8F3D-CA0E149EE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745" y="2207034"/>
            <a:ext cx="3494406" cy="335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062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Конечно-элементная аппроксимация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336089" cy="40507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Пусть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и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r>
                  <a:rPr lang="ru-RU" sz="2400" dirty="0"/>
                  <a:t>Используя формулу интегрирования по частям получим: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𝑣𝑑𝑠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336089" cy="4050792"/>
              </a:xfrm>
              <a:blipFill>
                <a:blip r:embed="rId2"/>
                <a:stretch>
                  <a:fillRect l="-944" t="-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34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2BC1B-B54C-4AF6-A758-A8E007EFD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10088880" cy="3035808"/>
          </a:xfrm>
        </p:spPr>
        <p:txBody>
          <a:bodyPr/>
          <a:lstStyle/>
          <a:p>
            <a:r>
              <a:rPr lang="ru-RU" sz="4800" dirty="0"/>
              <a:t>Метод Пикара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CFB13B-C16D-4407-BB11-F48A25659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355929"/>
            <a:ext cx="7891272" cy="1069848"/>
          </a:xfrm>
        </p:spPr>
        <p:txBody>
          <a:bodyPr/>
          <a:lstStyle/>
          <a:p>
            <a:r>
              <a:rPr lang="ru-RU" dirty="0"/>
              <a:t>Алексеев Валентин Николаевич</a:t>
            </a:r>
          </a:p>
        </p:txBody>
      </p:sp>
    </p:spTree>
    <p:extLst>
      <p:ext uri="{BB962C8B-B14F-4D97-AF65-F5344CB8AC3E}">
        <p14:creationId xmlns:p14="http://schemas.microsoft.com/office/powerpoint/2010/main" val="124676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Итерация Пикара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=0,1…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Сформулируем вариационную задачу 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ru-RU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Найти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такое, что: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где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 algn="ctr">
                  <a:buNone/>
                </a:pPr>
                <a:r>
                  <a:rPr lang="ru-RU" sz="2400" dirty="0"/>
                  <a:t>Итерации можно завершить, когда выполнится следующее:</a:t>
                </a:r>
                <a:br>
                  <a:rPr lang="ru-RU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𝑡𝑜𝑙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𝑡𝑜𝑙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836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Вычислительная реализация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3890F7D-FF37-4F38-8E9A-CEA492BA9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928741"/>
            <a:ext cx="4924425" cy="469219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2060"/>
                </a:solidFill>
              </a:rPr>
              <a:t>from</a:t>
            </a:r>
            <a:r>
              <a:rPr lang="en-US" sz="1200" dirty="0"/>
              <a:t> </a:t>
            </a:r>
            <a:r>
              <a:rPr lang="en-US" sz="1200" dirty="0" err="1"/>
              <a:t>dolfin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002060"/>
                </a:solidFill>
              </a:rPr>
              <a:t>import</a:t>
            </a:r>
            <a:r>
              <a:rPr lang="en-US" sz="1200" dirty="0"/>
              <a:t> *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import </a:t>
            </a:r>
            <a:r>
              <a:rPr lang="en-US" sz="1200" dirty="0" err="1"/>
              <a:t>numpy</a:t>
            </a:r>
            <a:r>
              <a:rPr lang="en-US" sz="1200" dirty="0"/>
              <a:t>, sys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N = 32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mesh = </a:t>
            </a:r>
            <a:r>
              <a:rPr lang="en-US" sz="1200" dirty="0" err="1"/>
              <a:t>UnitSquareMesh</a:t>
            </a:r>
            <a:r>
              <a:rPr lang="en-US" sz="1200" dirty="0"/>
              <a:t>(N, N)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m=2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def q(u):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return (1+u)**m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f = Constant(0.0)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g1 = Constant(1.0)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g2 = Constant(0.0)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def g1_boundary(x):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return x[0] &lt; DOLFIN_EPS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def g2_boundary(x):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return x[0] &gt; 1.0−DOLFIN_EPS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V = </a:t>
            </a:r>
            <a:r>
              <a:rPr lang="en-US" sz="1200" dirty="0" err="1"/>
              <a:t>FunctionSpace</a:t>
            </a:r>
            <a:r>
              <a:rPr lang="en-US" sz="1200" dirty="0"/>
              <a:t> (mesh , </a:t>
            </a:r>
            <a:r>
              <a:rPr lang="en-US" sz="1200" dirty="0">
                <a:solidFill>
                  <a:srgbClr val="33CC33"/>
                </a:solidFill>
              </a:rPr>
              <a:t>'Lagrange'</a:t>
            </a:r>
            <a:r>
              <a:rPr lang="en-US" sz="1200" dirty="0"/>
              <a:t> , 1)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u = TrialFunction(V)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v = TestFunction(V)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nl-NL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bc1 = </a:t>
            </a:r>
            <a:r>
              <a:rPr lang="en-US" sz="1200" dirty="0" err="1"/>
              <a:t>DirichletBC</a:t>
            </a:r>
            <a:r>
              <a:rPr lang="en-US" sz="1200" dirty="0"/>
              <a:t>(V, g1, g1_boundary)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bc2 = </a:t>
            </a:r>
            <a:r>
              <a:rPr lang="en-US" sz="1200" dirty="0" err="1"/>
              <a:t>DirichletBC</a:t>
            </a:r>
            <a:r>
              <a:rPr lang="en-US" sz="1200" dirty="0"/>
              <a:t>(V, g2, g2_boundary)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200" dirty="0"/>
              <a:t>bcs = [bc1 , bc2]</a:t>
            </a:r>
            <a:endParaRPr lang="en-US" sz="12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uk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= interpolate(Expression(("0.0"), degree=1),V)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 = inner(q(uk)*grad(u), grad(v)) * dx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 = f * v * dx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nl-NL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0BAEAE-026B-44DF-B8D0-C62E15F1F4A5}"/>
              </a:ext>
            </a:extLst>
          </p:cNvPr>
          <p:cNvSpPr txBox="1">
            <a:spLocks/>
          </p:cNvSpPr>
          <p:nvPr/>
        </p:nvSpPr>
        <p:spPr>
          <a:xfrm>
            <a:off x="6096000" y="1922985"/>
            <a:ext cx="4924425" cy="4692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#Picard iterations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u = Function(V)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eps =1.0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tol</a:t>
            </a:r>
            <a:r>
              <a:rPr lang="en-US" sz="1200" dirty="0"/>
              <a:t> = 1.0E-5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iter</a:t>
            </a:r>
            <a:r>
              <a:rPr lang="en-US" sz="1200" dirty="0"/>
              <a:t> =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maxiter</a:t>
            </a:r>
            <a:r>
              <a:rPr lang="en-US" sz="1200" dirty="0"/>
              <a:t> =25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while eps &gt; </a:t>
            </a:r>
            <a:r>
              <a:rPr lang="en-US" sz="1200" dirty="0" err="1"/>
              <a:t>tol</a:t>
            </a:r>
            <a:r>
              <a:rPr lang="en-US" sz="1200" dirty="0"/>
              <a:t> and </a:t>
            </a:r>
            <a:r>
              <a:rPr lang="en-US" sz="1200" dirty="0" err="1"/>
              <a:t>iter</a:t>
            </a:r>
            <a:r>
              <a:rPr lang="en-US" sz="1200" dirty="0"/>
              <a:t>&lt;</a:t>
            </a:r>
            <a:r>
              <a:rPr lang="en-US" sz="1200" dirty="0" err="1"/>
              <a:t>maxiter</a:t>
            </a:r>
            <a:r>
              <a:rPr lang="en-US" sz="1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</a:t>
            </a:r>
            <a:r>
              <a:rPr lang="en-US" sz="1200" dirty="0" err="1"/>
              <a:t>iter</a:t>
            </a:r>
            <a:r>
              <a:rPr lang="en-US" sz="1200" dirty="0"/>
              <a:t> +=1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</a:t>
            </a:r>
            <a:r>
              <a:rPr lang="es-ES" sz="1200" dirty="0"/>
              <a:t>solve(a == L, u, bcs)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u = </a:t>
            </a:r>
            <a:r>
              <a:rPr lang="en-US" sz="1200" dirty="0" err="1"/>
              <a:t>problem.solve</a:t>
            </a:r>
            <a:r>
              <a:rPr lang="en-US" sz="1200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diff = </a:t>
            </a:r>
            <a:r>
              <a:rPr lang="en-US" sz="1200" dirty="0" err="1"/>
              <a:t>u.vector</a:t>
            </a:r>
            <a:r>
              <a:rPr lang="en-US" sz="1200" dirty="0"/>
              <a:t>(). </a:t>
            </a:r>
            <a:r>
              <a:rPr lang="en-US" sz="1200" dirty="0" err="1"/>
              <a:t>get_local</a:t>
            </a:r>
            <a:r>
              <a:rPr lang="en-US" sz="1200" dirty="0"/>
              <a:t>() – </a:t>
            </a:r>
            <a:r>
              <a:rPr lang="en-US" sz="1200" dirty="0" err="1"/>
              <a:t>uk.vector</a:t>
            </a:r>
            <a:r>
              <a:rPr lang="en-US" sz="1200" dirty="0"/>
              <a:t>(). </a:t>
            </a:r>
            <a:r>
              <a:rPr lang="en-US" sz="1200" dirty="0" err="1"/>
              <a:t>get_local</a:t>
            </a:r>
            <a:r>
              <a:rPr lang="en-US" sz="1200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eps = </a:t>
            </a:r>
            <a:r>
              <a:rPr lang="en-US" sz="1200" dirty="0" err="1"/>
              <a:t>numpy.linalg.norm</a:t>
            </a:r>
            <a:r>
              <a:rPr lang="en-US" sz="1200" dirty="0"/>
              <a:t>(diff, </a:t>
            </a:r>
            <a:r>
              <a:rPr lang="en-US" sz="1200" dirty="0" err="1"/>
              <a:t>ord</a:t>
            </a:r>
            <a:r>
              <a:rPr lang="en-US" sz="1200" dirty="0"/>
              <a:t>=</a:t>
            </a:r>
            <a:r>
              <a:rPr lang="en-US" sz="1200" dirty="0" err="1"/>
              <a:t>numpy.Inf</a:t>
            </a:r>
            <a:r>
              <a:rPr lang="en-US" sz="12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print “Norm, </a:t>
            </a:r>
            <a:r>
              <a:rPr lang="en-US" sz="1200" dirty="0" err="1"/>
              <a:t>iter</a:t>
            </a:r>
            <a:r>
              <a:rPr lang="en-US" sz="1200" dirty="0"/>
              <a:t>=%d: %g” % (</a:t>
            </a:r>
            <a:r>
              <a:rPr lang="en-US" sz="1200" dirty="0" err="1"/>
              <a:t>iter,eps</a:t>
            </a:r>
            <a:r>
              <a:rPr lang="en-US" sz="1200" dirty="0"/>
              <a:t>)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</a:t>
            </a:r>
            <a:r>
              <a:rPr lang="en-US" sz="1200" dirty="0" err="1"/>
              <a:t>uk.assign</a:t>
            </a:r>
            <a:r>
              <a:rPr lang="en-US" sz="1200" dirty="0"/>
              <a:t>(u)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>
                <a:solidFill>
                  <a:srgbClr val="002060"/>
                </a:solidFill>
              </a:rPr>
              <a:t>file</a:t>
            </a:r>
            <a:r>
              <a:rPr lang="en-US" sz="1200" dirty="0"/>
              <a:t> = File(</a:t>
            </a:r>
            <a:r>
              <a:rPr lang="en-US" sz="1200" dirty="0">
                <a:solidFill>
                  <a:srgbClr val="33CC33"/>
                </a:solidFill>
              </a:rPr>
              <a:t>'./</a:t>
            </a:r>
            <a:r>
              <a:rPr lang="en-US" sz="1200" dirty="0" err="1">
                <a:solidFill>
                  <a:srgbClr val="33CC33"/>
                </a:solidFill>
              </a:rPr>
              <a:t>poisson.pvd</a:t>
            </a:r>
            <a:r>
              <a:rPr lang="en-US" sz="1200" dirty="0">
                <a:solidFill>
                  <a:srgbClr val="33CC33"/>
                </a:solidFill>
              </a:rPr>
              <a:t>'</a:t>
            </a:r>
            <a:r>
              <a:rPr lang="en-US" sz="1200" dirty="0"/>
              <a:t>)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>
                <a:solidFill>
                  <a:srgbClr val="002060"/>
                </a:solidFill>
              </a:rPr>
              <a:t>file</a:t>
            </a:r>
            <a:r>
              <a:rPr lang="en-US" sz="1200" dirty="0"/>
              <a:t> &lt;&lt; u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# Find max error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u_exact</a:t>
            </a:r>
            <a:r>
              <a:rPr lang="en-US" sz="1200" dirty="0"/>
              <a:t> = Expression("pow((pow(2, m+1)-1)*x[0] + 1, 1.0/(m+1)) - 1", m=m, degree=1)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u_e</a:t>
            </a:r>
            <a:r>
              <a:rPr lang="en-US" sz="1200" dirty="0"/>
              <a:t> = interpolate(</a:t>
            </a:r>
            <a:r>
              <a:rPr lang="en-US" sz="1200" dirty="0" err="1"/>
              <a:t>u_exact</a:t>
            </a:r>
            <a:r>
              <a:rPr lang="en-US" sz="1200" dirty="0"/>
              <a:t>, 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diff = </a:t>
            </a:r>
            <a:r>
              <a:rPr lang="en-US" sz="1200" dirty="0" err="1"/>
              <a:t>numpy.abs</a:t>
            </a:r>
            <a:r>
              <a:rPr lang="en-US" sz="1200" dirty="0"/>
              <a:t>(</a:t>
            </a:r>
            <a:r>
              <a:rPr lang="en-US" sz="1200" dirty="0" err="1"/>
              <a:t>u_e.vector</a:t>
            </a:r>
            <a:r>
              <a:rPr lang="en-US" sz="1200" dirty="0"/>
              <a:t>().get_ </a:t>
            </a:r>
            <a:r>
              <a:rPr lang="en-US" sz="1200" dirty="0" err="1"/>
              <a:t>get_local</a:t>
            </a:r>
            <a:r>
              <a:rPr lang="en-US" sz="1200" dirty="0"/>
              <a:t>() - </a:t>
            </a:r>
            <a:r>
              <a:rPr lang="en-US" sz="1200" dirty="0" err="1"/>
              <a:t>u.vector</a:t>
            </a:r>
            <a:r>
              <a:rPr lang="en-US" sz="1200" dirty="0"/>
              <a:t>().</a:t>
            </a:r>
            <a:r>
              <a:rPr lang="en-US" sz="1200" dirty="0" err="1"/>
              <a:t>get_local</a:t>
            </a:r>
            <a:r>
              <a:rPr lang="en-US" sz="1200" dirty="0"/>
              <a:t>()).max()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print ('Max error:', diff)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58858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2BC1B-B54C-4AF6-A758-A8E007EFD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10088880" cy="3035808"/>
          </a:xfrm>
        </p:spPr>
        <p:txBody>
          <a:bodyPr/>
          <a:lstStyle/>
          <a:p>
            <a:r>
              <a:rPr lang="ru-RU" sz="4800" dirty="0"/>
              <a:t>Метод Ньютона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CFB13B-C16D-4407-BB11-F48A25659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355929"/>
            <a:ext cx="7891272" cy="1069848"/>
          </a:xfrm>
        </p:spPr>
        <p:txBody>
          <a:bodyPr/>
          <a:lstStyle/>
          <a:p>
            <a:r>
              <a:rPr lang="ru-RU" dirty="0"/>
              <a:t>Алексеев Валентин Николаевич</a:t>
            </a:r>
          </a:p>
        </p:txBody>
      </p:sp>
    </p:spTree>
    <p:extLst>
      <p:ext uri="{BB962C8B-B14F-4D97-AF65-F5344CB8AC3E}">
        <p14:creationId xmlns:p14="http://schemas.microsoft.com/office/powerpoint/2010/main" val="3667590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800" dirty="0"/>
              <a:t>Метод Ньютона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2124" y="1903694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400" dirty="0"/>
                  <a:t>Имея приближение к полю решения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sz="2400" dirty="0"/>
                  <a:t>мы ищем возмущение 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так, чтобы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удовлетворяло нелинейному уравнению с частными производными. </a:t>
                </a:r>
              </a:p>
              <a:p>
                <a:pPr marL="274320" lvl="1" indent="0">
                  <a:buNone/>
                </a:pPr>
                <a:r>
                  <a:rPr lang="ru-RU" sz="2400" dirty="0"/>
                  <a:t>Подставляем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в уравнение и линеаризуя член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следующим образом: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и отбрасывая другие нелинейные члены в 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мы получаем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p>
                          </m:sSup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Мы можем собрать члены с неизвестным значением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в левой части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2124" y="1903694"/>
                <a:ext cx="10207751" cy="4050792"/>
              </a:xfrm>
              <a:blipFill>
                <a:blip r:embed="rId3"/>
                <a:stretch>
                  <a:fillRect t="-1955" r="-1314" b="-14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05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800" dirty="0"/>
              <a:t>Метод Ньютона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2124" y="1903694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400" dirty="0"/>
                  <a:t>Слабая форма этого уравнения получена путем умножения на тестовую функцию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интегрирования по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4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интегрирования производных второго порядка по частям: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ru-RU" sz="24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Вариационная задачи гласит: найти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такое, что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для всех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где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2124" y="1903694"/>
                <a:ext cx="10207751" cy="4050792"/>
              </a:xfrm>
              <a:blipFill>
                <a:blip r:embed="rId3"/>
                <a:stretch>
                  <a:fillRect t="-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672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800" dirty="0"/>
              <a:t>Метод Ньютона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2124" y="1903694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400" dirty="0"/>
                  <a:t>Граничные условия Дирихле для задачи, которую нужно решить на каждой итерации метода Ньютона, немного отличаются от условий для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Предполагая,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удовлетворяет граничным условиям Дирихле для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должно быть равно нулю на границах, где применяются граничные условия Дирихле, чтобы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𝜔𝛿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удовлетворяло правильным значениям Дирихле. Поэтому мы должны определить дополнительный список граничных условий Дирихле для 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Определяем производную для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ru-RU" sz="24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2124" y="1903694"/>
                <a:ext cx="10207751" cy="4050792"/>
              </a:xfrm>
              <a:blipFill>
                <a:blip r:embed="rId3"/>
                <a:stretch>
                  <a:fillRect t="-2105" r="-5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1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800" dirty="0"/>
              <a:t>Метод Ньютона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2124" y="1903694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400" dirty="0"/>
                  <a:t>Необходимо предоставить начальное приближение, например, решение с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=1. </m:t>
                    </m:r>
                  </m:oMath>
                </a14:m>
                <a:r>
                  <a:rPr lang="ru-RU" sz="2400" dirty="0"/>
                  <a:t>Соответствующая слабая форма будет иметь следующий вид: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ru-RU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sz="2400" dirty="0"/>
              </a:p>
              <a:p>
                <a:pPr marL="274320" lvl="1" indent="0">
                  <a:buNone/>
                </a:pPr>
                <a:r>
                  <a:rPr lang="ru-RU" sz="2400" dirty="0"/>
                  <a:t>Далее решаем уравнение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для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вычисляем новое приближение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2124" y="1903694"/>
                <a:ext cx="10207751" cy="4050792"/>
              </a:xfrm>
              <a:blipFill>
                <a:blip r:embed="rId3"/>
                <a:stretch>
                  <a:fillRect t="-2105" r="-8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4461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Вычислительная реализация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3890F7D-FF37-4F38-8E9A-CEA492BA9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928741"/>
            <a:ext cx="4924425" cy="469219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2060"/>
                </a:solidFill>
              </a:rPr>
              <a:t>from</a:t>
            </a:r>
            <a:r>
              <a:rPr lang="en-US" sz="1200" dirty="0"/>
              <a:t> </a:t>
            </a:r>
            <a:r>
              <a:rPr lang="en-US" sz="1200" dirty="0" err="1"/>
              <a:t>dolfin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002060"/>
                </a:solidFill>
              </a:rPr>
              <a:t>import</a:t>
            </a:r>
            <a:r>
              <a:rPr lang="en-US" sz="1200" dirty="0"/>
              <a:t> *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N = 32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mesh = </a:t>
            </a:r>
            <a:r>
              <a:rPr lang="en-US" sz="1200" dirty="0" err="1"/>
              <a:t>UnitSquareMesh</a:t>
            </a:r>
            <a:r>
              <a:rPr lang="en-US" sz="1200" dirty="0"/>
              <a:t>(N, N)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m=2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def q(u):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return (1+u)**m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def </a:t>
            </a:r>
            <a:r>
              <a:rPr lang="en-US" sz="1200" dirty="0" err="1"/>
              <a:t>Dq</a:t>
            </a:r>
            <a:r>
              <a:rPr lang="en-US" sz="1200" dirty="0"/>
              <a:t>(u):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return m*(1+u)**(m-1)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f = Constant(0.0)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g1 = Constant(1.0)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200" dirty="0"/>
              <a:t>g2 = Constant(0.0)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def g1_boundary(x):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return x[0] &lt; DOLFIN_EPS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def g2_boundary(x):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	return x[0] &gt; 1.0−DOLFIN_EPS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V = </a:t>
            </a:r>
            <a:r>
              <a:rPr lang="en-US" sz="1200" dirty="0" err="1"/>
              <a:t>FunctionSpace</a:t>
            </a:r>
            <a:r>
              <a:rPr lang="en-US" sz="1200" dirty="0"/>
              <a:t> (mesh , </a:t>
            </a:r>
            <a:r>
              <a:rPr lang="en-US" sz="1200" dirty="0">
                <a:solidFill>
                  <a:srgbClr val="33CC33"/>
                </a:solidFill>
              </a:rPr>
              <a:t>'Lagrange'</a:t>
            </a:r>
            <a:r>
              <a:rPr lang="en-US" sz="1200" dirty="0"/>
              <a:t> , 1)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u = TrialFunction(V)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nl-NL" sz="1200" dirty="0"/>
              <a:t>v = TestFunction(V)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nl-NL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bc1 = </a:t>
            </a:r>
            <a:r>
              <a:rPr lang="en-US" sz="1200" dirty="0" err="1"/>
              <a:t>DirichletBC</a:t>
            </a:r>
            <a:r>
              <a:rPr lang="en-US" sz="1200" dirty="0"/>
              <a:t>(V, g1, g1_boundary)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bc2 = </a:t>
            </a:r>
            <a:r>
              <a:rPr lang="en-US" sz="1200" dirty="0" err="1"/>
              <a:t>DirichletBC</a:t>
            </a:r>
            <a:r>
              <a:rPr lang="en-US" sz="1200" dirty="0"/>
              <a:t>(V, g2, g2_boundary)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200" dirty="0"/>
              <a:t>bcs = [bc1 , bc2]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nl-NL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0BAEAE-026B-44DF-B8D0-C62E15F1F4A5}"/>
              </a:ext>
            </a:extLst>
          </p:cNvPr>
          <p:cNvSpPr txBox="1">
            <a:spLocks/>
          </p:cNvSpPr>
          <p:nvPr/>
        </p:nvSpPr>
        <p:spPr>
          <a:xfrm>
            <a:off x="6096000" y="1922985"/>
            <a:ext cx="4924425" cy="4692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#Define variational problem for initial guess (q(u)=1, i.e., m=0)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 = inner(grad(u), grad(v)) * dx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 = f * v * dx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u_ = Function(V)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dirty="0"/>
              <a:t>solve(a == L, u_, bcs)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bc1 = </a:t>
            </a:r>
            <a:r>
              <a:rPr lang="en-US" sz="1200" dirty="0" err="1"/>
              <a:t>DirichletBC</a:t>
            </a:r>
            <a:r>
              <a:rPr lang="en-US" sz="1200" dirty="0"/>
              <a:t>(V, g2, g1_boundary)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bc2 = </a:t>
            </a:r>
            <a:r>
              <a:rPr lang="en-US" sz="1200" dirty="0" err="1"/>
              <a:t>DirichletBC</a:t>
            </a:r>
            <a:r>
              <a:rPr lang="en-US" sz="1200" dirty="0"/>
              <a:t>(V, g2, g2_boundary)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l-PL" sz="1200" dirty="0"/>
              <a:t>bcs = [bc1 , bc2]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dirty="0"/>
              <a:t># Define variational problem for Newton iteration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du = </a:t>
            </a:r>
            <a:r>
              <a:rPr lang="en-US" sz="1200" dirty="0" err="1"/>
              <a:t>TrialFunction</a:t>
            </a:r>
            <a:r>
              <a:rPr lang="en-US" sz="1200" dirty="0"/>
              <a:t>(V)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a = inner(q(u_)*grad(du),grad(v))*dx + inner(</a:t>
            </a:r>
            <a:r>
              <a:rPr lang="en-US" sz="1200" dirty="0" err="1"/>
              <a:t>Dq</a:t>
            </a:r>
            <a:r>
              <a:rPr lang="en-US" sz="1200" dirty="0"/>
              <a:t>(u_)*du*grad(u_),grad(v))*dx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L = -inner(q(u_)*grad(u_), grad(v))*dx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#Newton iteration at the PDE level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du = Function(V)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u = Function(V)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omega =1.0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eps =1.0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tol</a:t>
            </a:r>
            <a:r>
              <a:rPr lang="en-US" sz="1200" dirty="0"/>
              <a:t> = 1.0E-5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iter</a:t>
            </a:r>
            <a:r>
              <a:rPr lang="en-US" sz="1200" dirty="0"/>
              <a:t> =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maxiter</a:t>
            </a:r>
            <a:r>
              <a:rPr lang="en-US" sz="1200" dirty="0"/>
              <a:t> =25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016645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Вычислительная реализация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3890F7D-FF37-4F38-8E9A-CEA492BA9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928741"/>
            <a:ext cx="9872403" cy="469219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while eps &gt; </a:t>
            </a:r>
            <a:r>
              <a:rPr lang="en-US" sz="1200" dirty="0" err="1"/>
              <a:t>tol</a:t>
            </a:r>
            <a:r>
              <a:rPr lang="en-US" sz="1200" dirty="0"/>
              <a:t> and </a:t>
            </a:r>
            <a:r>
              <a:rPr lang="en-US" sz="1200" dirty="0" err="1"/>
              <a:t>iter</a:t>
            </a:r>
            <a:r>
              <a:rPr lang="en-US" sz="1200" dirty="0"/>
              <a:t>&lt;</a:t>
            </a:r>
            <a:r>
              <a:rPr lang="en-US" sz="1200" dirty="0" err="1"/>
              <a:t>maxiter</a:t>
            </a:r>
            <a:r>
              <a:rPr lang="en-US" sz="12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</a:t>
            </a:r>
            <a:r>
              <a:rPr lang="en-US" sz="1200" dirty="0" err="1"/>
              <a:t>iter</a:t>
            </a:r>
            <a:r>
              <a:rPr lang="en-US" sz="1200" dirty="0"/>
              <a:t> +=1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print(</a:t>
            </a:r>
            <a:r>
              <a:rPr lang="en-US" sz="1200" dirty="0" err="1"/>
              <a:t>num_iter</a:t>
            </a:r>
            <a:r>
              <a:rPr lang="en-US" sz="1200" dirty="0"/>
              <a:t>, 'iteration', end=' 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</a:t>
            </a:r>
            <a:r>
              <a:rPr lang="es-ES" sz="1200" dirty="0"/>
              <a:t>solve(a == L, du, bcs)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eps = </a:t>
            </a:r>
            <a:r>
              <a:rPr lang="en-US" sz="1200" dirty="0" err="1"/>
              <a:t>numpy.linalg.norm</a:t>
            </a:r>
            <a:r>
              <a:rPr lang="en-US" sz="1200" dirty="0"/>
              <a:t>(</a:t>
            </a:r>
            <a:r>
              <a:rPr lang="en-US" sz="1200" dirty="0" err="1"/>
              <a:t>du.vector</a:t>
            </a:r>
            <a:r>
              <a:rPr lang="en-US" sz="1200" dirty="0"/>
              <a:t>(). </a:t>
            </a:r>
            <a:r>
              <a:rPr lang="en-US" sz="1200" dirty="0" err="1"/>
              <a:t>get_local</a:t>
            </a:r>
            <a:r>
              <a:rPr lang="en-US" sz="1200" dirty="0"/>
              <a:t>(), </a:t>
            </a:r>
            <a:r>
              <a:rPr lang="en-US" sz="1200" dirty="0" err="1"/>
              <a:t>ord</a:t>
            </a:r>
            <a:r>
              <a:rPr lang="en-US" sz="1200" dirty="0"/>
              <a:t>=</a:t>
            </a:r>
            <a:r>
              <a:rPr lang="en-US" sz="1200" dirty="0" err="1"/>
              <a:t>numpy.Inf</a:t>
            </a:r>
            <a:r>
              <a:rPr lang="en-US" sz="12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print('Norm:', eps)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</a:t>
            </a:r>
            <a:r>
              <a:rPr lang="es-ES" sz="1200" dirty="0"/>
              <a:t>u.vector()[:] = u_.vector() + omega*du.vector()</a:t>
            </a: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	</a:t>
            </a:r>
            <a:r>
              <a:rPr lang="en-US" sz="1200" dirty="0" err="1"/>
              <a:t>u_.assign</a:t>
            </a:r>
            <a:r>
              <a:rPr lang="en-US" sz="1200" dirty="0"/>
              <a:t>(u)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>
                <a:solidFill>
                  <a:srgbClr val="002060"/>
                </a:solidFill>
              </a:rPr>
              <a:t>file</a:t>
            </a:r>
            <a:r>
              <a:rPr lang="en-US" sz="1200" dirty="0"/>
              <a:t> = File(</a:t>
            </a:r>
            <a:r>
              <a:rPr lang="en-US" sz="1200" dirty="0">
                <a:solidFill>
                  <a:srgbClr val="33CC33"/>
                </a:solidFill>
              </a:rPr>
              <a:t>'./</a:t>
            </a:r>
            <a:r>
              <a:rPr lang="en-US" sz="1200" dirty="0" err="1">
                <a:solidFill>
                  <a:srgbClr val="33CC33"/>
                </a:solidFill>
              </a:rPr>
              <a:t>poisson.pvd</a:t>
            </a:r>
            <a:r>
              <a:rPr lang="en-US" sz="1200" dirty="0">
                <a:solidFill>
                  <a:srgbClr val="33CC33"/>
                </a:solidFill>
              </a:rPr>
              <a:t>'</a:t>
            </a:r>
            <a:r>
              <a:rPr lang="en-US" sz="1200" dirty="0"/>
              <a:t>)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>
                <a:solidFill>
                  <a:srgbClr val="002060"/>
                </a:solidFill>
              </a:rPr>
              <a:t>file</a:t>
            </a:r>
            <a:r>
              <a:rPr lang="en-US" sz="1200" dirty="0"/>
              <a:t> &lt;&lt; u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# Find max error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u_exact</a:t>
            </a:r>
            <a:r>
              <a:rPr lang="en-US" sz="1200" dirty="0"/>
              <a:t> = Expression("pow((pow(2, m+1)-1)*x[0] + 1, 1.0/(m+1)) - 1", m=m, degree=1)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 err="1"/>
              <a:t>u_e</a:t>
            </a:r>
            <a:r>
              <a:rPr lang="en-US" sz="1200" dirty="0"/>
              <a:t> = interpolate(</a:t>
            </a:r>
            <a:r>
              <a:rPr lang="en-US" sz="1200" dirty="0" err="1"/>
              <a:t>u_exact</a:t>
            </a:r>
            <a:r>
              <a:rPr lang="en-US" sz="1200" dirty="0"/>
              <a:t>, 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diff = </a:t>
            </a:r>
            <a:r>
              <a:rPr lang="en-US" sz="1200" dirty="0" err="1"/>
              <a:t>numpy.abs</a:t>
            </a:r>
            <a:r>
              <a:rPr lang="en-US" sz="1200" dirty="0"/>
              <a:t>(</a:t>
            </a:r>
            <a:r>
              <a:rPr lang="en-US" sz="1200" dirty="0" err="1"/>
              <a:t>u_e.vector</a:t>
            </a:r>
            <a:r>
              <a:rPr lang="en-US" sz="1200" dirty="0"/>
              <a:t>().</a:t>
            </a:r>
            <a:r>
              <a:rPr lang="en-US" sz="1200" dirty="0" err="1"/>
              <a:t>get_local</a:t>
            </a:r>
            <a:r>
              <a:rPr lang="en-US" sz="1200" dirty="0"/>
              <a:t>() - </a:t>
            </a:r>
            <a:r>
              <a:rPr lang="en-US" sz="1200" dirty="0" err="1"/>
              <a:t>u.vector</a:t>
            </a:r>
            <a:r>
              <a:rPr lang="en-US" sz="1200" dirty="0"/>
              <a:t>().</a:t>
            </a:r>
            <a:r>
              <a:rPr lang="en-US" sz="1200" dirty="0" err="1"/>
              <a:t>get_local</a:t>
            </a:r>
            <a:r>
              <a:rPr lang="en-US" sz="1200" dirty="0"/>
              <a:t>()).max()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200" dirty="0"/>
              <a:t>print ('Max error:', diff)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/>
              <a:t>  </a:t>
            </a:r>
            <a:endParaRPr lang="ru-RU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nl-NL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17107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Результаты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4FBC1A-A215-4F3D-9AB9-765862B24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033" y="1721157"/>
            <a:ext cx="4193934" cy="465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19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336089" cy="4050792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20000"/>
                  </a:lnSpc>
                  <a:buAutoNum type="arabicPeriod"/>
                </a:pPr>
                <a:r>
                  <a:rPr lang="ru-RU" sz="2800" dirty="0"/>
                  <a:t>Решите следующее нелинейное уравнение с использованием метода Пикара: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sz="28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 startAt="2"/>
                </a:pPr>
                <a:r>
                  <a:rPr lang="ru-RU" sz="2800" dirty="0"/>
                  <a:t>Решите следующее нелинейное уравнение с использованием метода Ньютона: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sz="28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 startAt="2"/>
                </a:pPr>
                <a:endParaRPr lang="en-US" sz="2800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endParaRPr lang="ru-RU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336089" cy="4050792"/>
              </a:xfrm>
              <a:blipFill>
                <a:blip r:embed="rId2"/>
                <a:stretch>
                  <a:fillRect l="-885" t="-6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953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Варианты уравнений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727195" cy="458495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1) Для оператора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b="0" dirty="0"/>
                  <a:t>2) </a:t>
                </a:r>
                <a:r>
                  <a:rPr lang="ru-RU" sz="2800" b="0" dirty="0"/>
                  <a:t>Для оператора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b="0" dirty="0"/>
                  <a:t>3) </a:t>
                </a:r>
                <a:r>
                  <a:rPr lang="ru-RU" sz="2800" b="0" dirty="0"/>
                  <a:t>Для оператора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)∇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ru-RU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b="0" dirty="0"/>
                  <a:t>4) Для оператора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ru-RU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b="0" dirty="0"/>
                  <a:t>5) Для оператора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</m:d>
                        <m:r>
                          <a:rPr lang="en-US" sz="280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6) </a:t>
                </a:r>
                <a:r>
                  <a:rPr lang="ru-RU" sz="2800" dirty="0"/>
                  <a:t>Для оператора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ru-RU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)∇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b="0" dirty="0"/>
                  <a:t>7) </a:t>
                </a:r>
                <a:r>
                  <a:rPr lang="ru-RU" sz="2800" dirty="0"/>
                  <a:t>Для оператора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</m:d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8</a:t>
                </a:r>
                <a:r>
                  <a:rPr lang="en-US" sz="2800" b="0" dirty="0"/>
                  <a:t>) </a:t>
                </a:r>
                <a:r>
                  <a:rPr lang="ru-RU" sz="2800" dirty="0"/>
                  <a:t>Для оператора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ru-RU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9</a:t>
                </a:r>
                <a:r>
                  <a:rPr lang="en-US" sz="2800" b="0" dirty="0"/>
                  <a:t>) </a:t>
                </a:r>
                <a:r>
                  <a:rPr lang="ru-RU" sz="2800" dirty="0"/>
                  <a:t>Для оператора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)∇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endParaRPr lang="ru-RU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ru-RU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727195" cy="4584956"/>
              </a:xfrm>
              <a:blipFill>
                <a:blip r:embed="rId3"/>
                <a:stretch>
                  <a:fillRect l="-739" t="-10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441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Коэффициенты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727195" cy="4584956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1)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b="0" dirty="0"/>
                  <a:t>2)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b="0" dirty="0"/>
                  <a:t>3)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=0, 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=0.1,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endParaRPr lang="ru-RU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b="0" dirty="0"/>
                  <a:t>4)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+1, 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ru-RU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b="0" dirty="0"/>
                  <a:t>5)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6)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b="0" dirty="0"/>
                  <a:t>7)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=−1,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8</a:t>
                </a:r>
                <a:r>
                  <a:rPr lang="en-US" sz="2800" b="0" dirty="0"/>
                  <a:t>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=0.5,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ru-RU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9</a:t>
                </a:r>
                <a:r>
                  <a:rPr lang="en-US" sz="2800" b="0" dirty="0"/>
                  <a:t>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=0.2,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ru-RU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727195" cy="4584956"/>
              </a:xfrm>
              <a:blipFill>
                <a:blip r:embed="rId3"/>
                <a:stretch>
                  <a:fillRect l="-625" t="-9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131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351643"/>
            <a:ext cx="10058400" cy="1609344"/>
          </a:xfrm>
        </p:spPr>
        <p:txBody>
          <a:bodyPr/>
          <a:lstStyle/>
          <a:p>
            <a:pPr algn="ctr"/>
            <a:r>
              <a:rPr lang="ru-RU" dirty="0"/>
              <a:t>Варианты граничных условий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727195" cy="454537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1) слева сбоку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8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2</a:t>
                </a:r>
                <a:r>
                  <a:rPr lang="en-US" sz="2800" dirty="0"/>
                  <a:t>) </a:t>
                </a:r>
                <a:r>
                  <a:rPr lang="ru-RU" sz="2800" dirty="0"/>
                  <a:t>слева сбоку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3</a:t>
                </a:r>
                <a:r>
                  <a:rPr lang="en-US" sz="2800" dirty="0"/>
                  <a:t>) </a:t>
                </a:r>
                <a:r>
                  <a:rPr lang="ru-RU" sz="2800" dirty="0"/>
                  <a:t>слева сбоку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 </a:t>
                </a:r>
                <a14:m>
                  <m:oMath xmlns:m="http://schemas.openxmlformats.org/officeDocument/2006/math">
                    <m:r>
                      <a:rPr lang="ru-RU" sz="28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4</a:t>
                </a:r>
                <a:r>
                  <a:rPr lang="en-US" sz="2800" dirty="0"/>
                  <a:t>) </a:t>
                </a:r>
                <a:r>
                  <a:rPr lang="ru-RU" sz="2800" dirty="0"/>
                  <a:t>слева сбоку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5</a:t>
                </a:r>
                <a:r>
                  <a:rPr lang="en-US" sz="2800" dirty="0"/>
                  <a:t>) </a:t>
                </a:r>
                <a:r>
                  <a:rPr lang="ru-RU" sz="2800" dirty="0"/>
                  <a:t>слева сбоку задать</a:t>
                </a:r>
                <a14:m>
                  <m:oMath xmlns:m="http://schemas.openxmlformats.org/officeDocument/2006/math">
                    <m:r>
                      <a:rPr lang="ru-RU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6</a:t>
                </a:r>
                <a:r>
                  <a:rPr lang="en-US" sz="2800" dirty="0"/>
                  <a:t>)</a:t>
                </a:r>
                <a:r>
                  <a:rPr lang="ru-RU" sz="2800" b="0" dirty="0"/>
                  <a:t> слева сбоку задать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800" b="0" dirty="0"/>
                  <a:t> </a:t>
                </a:r>
                <a:r>
                  <a:rPr lang="ru-RU" sz="2800" b="0" dirty="0"/>
                  <a:t>и </a:t>
                </a:r>
                <a:r>
                  <a:rPr lang="ru-RU" sz="2800" dirty="0"/>
                  <a:t>справа сбоку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800" dirty="0"/>
                  <a:t> </a:t>
                </a:r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7</a:t>
                </a:r>
                <a:r>
                  <a:rPr lang="en-US" sz="2800" dirty="0"/>
                  <a:t>)</a:t>
                </a:r>
                <a:r>
                  <a:rPr lang="ru-RU" sz="2800" dirty="0"/>
                  <a:t> слева сбоку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сбоку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ru-RU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8) слева сбоку задать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справа сбоку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9)</a:t>
                </a:r>
                <a:r>
                  <a:rPr lang="ru-RU" sz="2800" dirty="0"/>
                  <a:t> слева сбоку задать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справа сбоку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727195" cy="4545370"/>
              </a:xfrm>
              <a:blipFill>
                <a:blip r:embed="rId3"/>
                <a:stretch>
                  <a:fillRect l="-625" b="-10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1957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Дерево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1206</TotalTime>
  <Words>2315</Words>
  <Application>Microsoft Office PowerPoint</Application>
  <PresentationFormat>Широкоэкранный</PresentationFormat>
  <Paragraphs>235</Paragraphs>
  <Slides>18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Calibri</vt:lpstr>
      <vt:lpstr>Cambria Math</vt:lpstr>
      <vt:lpstr>Georgia</vt:lpstr>
      <vt:lpstr>Trebuchet MS</vt:lpstr>
      <vt:lpstr>Wingdings</vt:lpstr>
      <vt:lpstr>Дерево</vt:lpstr>
      <vt:lpstr>Нелинейные уравнения</vt:lpstr>
      <vt:lpstr>Математическая модель</vt:lpstr>
      <vt:lpstr>Конечно-элементная аппроксимация</vt:lpstr>
      <vt:lpstr>Метод Пикара</vt:lpstr>
      <vt:lpstr>Итерация Пикара</vt:lpstr>
      <vt:lpstr>Вычислительная реализация</vt:lpstr>
      <vt:lpstr>Метод Ньютона</vt:lpstr>
      <vt:lpstr>Метод Ньютона</vt:lpstr>
      <vt:lpstr>Метод Ньютона</vt:lpstr>
      <vt:lpstr>Метод Ньютона</vt:lpstr>
      <vt:lpstr>Метод Ньютона</vt:lpstr>
      <vt:lpstr>Вычислительная реализация</vt:lpstr>
      <vt:lpstr>Вычислительная реализация</vt:lpstr>
      <vt:lpstr>Результаты</vt:lpstr>
      <vt:lpstr>Задания</vt:lpstr>
      <vt:lpstr>Варианты уравнений</vt:lpstr>
      <vt:lpstr>Коэффициенты</vt:lpstr>
      <vt:lpstr>Варианты граничных условий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Kellerman</dc:creator>
  <cp:lastModifiedBy>NIKVT</cp:lastModifiedBy>
  <cp:revision>103</cp:revision>
  <dcterms:created xsi:type="dcterms:W3CDTF">2022-10-09T10:49:43Z</dcterms:created>
  <dcterms:modified xsi:type="dcterms:W3CDTF">2023-12-04T01:09:48Z</dcterms:modified>
</cp:coreProperties>
</file>