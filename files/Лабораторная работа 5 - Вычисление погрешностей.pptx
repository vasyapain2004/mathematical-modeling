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304" r:id="rId4"/>
    <p:sldId id="306" r:id="rId5"/>
    <p:sldId id="307" r:id="rId6"/>
    <p:sldId id="303" r:id="rId7"/>
    <p:sldId id="305" r:id="rId8"/>
    <p:sldId id="30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93" autoAdjust="0"/>
  </p:normalViewPr>
  <p:slideViewPr>
    <p:cSldViewPr snapToGrid="0">
      <p:cViewPr varScale="1">
        <p:scale>
          <a:sx n="62" d="100"/>
          <a:sy n="62" d="100"/>
        </p:scale>
        <p:origin x="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CEC10-C05A-47AA-82D6-D3BC4BF6D467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E8E2C-279F-4670-83CE-281DEC4E5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4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9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7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14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9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2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09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83CA84-5427-410A-9B6F-78174845156C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Вычисление погрешностей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70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Вычисление погрешностей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>
                    <a:latin typeface="Cambria Math" panose="02040503050406030204" pitchFamily="18" charset="0"/>
                  </a:rPr>
                  <a:t>Абсолютная погрешность: </a:t>
                </a:r>
                <a:endParaRPr lang="ru-RU" sz="2000" b="0" i="0" dirty="0">
                  <a:latin typeface="Cambria Math" panose="02040503050406030204" pitchFamily="18" charset="0"/>
                </a:endParaRP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b="0" dirty="0">
                    <a:latin typeface="Cambria Math" panose="02040503050406030204" pitchFamily="18" charset="0"/>
                  </a:rPr>
                  <a:t> </a:t>
                </a:r>
              </a:p>
              <a:p>
                <a:pPr marL="274320" lvl="1" indent="0">
                  <a:buNone/>
                </a:pPr>
                <a:r>
                  <a:rPr lang="ru-RU" sz="2000" dirty="0">
                    <a:latin typeface="Cambria Math" panose="02040503050406030204" pitchFamily="18" charset="0"/>
                  </a:rPr>
                  <a:t>Относительная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000" dirty="0">
                    <a:latin typeface="Cambria Math" panose="02040503050406030204" pitchFamily="18" charset="0"/>
                  </a:rPr>
                  <a:t> погрешность:</a:t>
                </a: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sz="2000" dirty="0"/>
              </a:p>
              <a:p>
                <a:pPr marL="274320" lvl="1" indent="0">
                  <a:buNone/>
                </a:pPr>
                <a:r>
                  <a:rPr lang="ru-RU" sz="2000" dirty="0">
                    <a:latin typeface="Cambria Math" panose="02040503050406030204" pitchFamily="18" charset="0"/>
                  </a:rPr>
                  <a:t>Относительная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Cambria Math" panose="02040503050406030204" pitchFamily="18" charset="0"/>
                  </a:rPr>
                  <a:t>погрешность:</a:t>
                </a: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</a:t>
                </a:r>
                <a:r>
                  <a:rPr lang="ru-RU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точное (эталонное) решение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- приближенное решение</a:t>
                </a: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53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683878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Рассмотрим следующее эллиптическое уравнение: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800" b="0" dirty="0"/>
              </a:p>
              <a:p>
                <a:pPr marL="0" indent="0">
                  <a:buNone/>
                </a:pPr>
                <a:r>
                  <a:rPr lang="ru-RU" sz="2800" dirty="0"/>
                  <a:t>с однородными граничными условиями Дирихле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=0,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:r>
                  <a:rPr lang="ru-RU" sz="2800" dirty="0"/>
                  <a:t>при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800" dirty="0"/>
                  <a:t> по всей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683878" cy="4050792"/>
              </a:xfrm>
              <a:blipFill>
                <a:blip r:embed="rId2"/>
                <a:stretch>
                  <a:fillRect l="-2253" t="-2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F08A84-1BB5-4BAB-B735-3E8F5E6C1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521" y="1749898"/>
            <a:ext cx="2888331" cy="335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6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86436"/>
            <a:ext cx="10058399" cy="405079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mesh = 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UnitSquareMesh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 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 </a:t>
            </a: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</a:t>
            </a:r>
            <a:r>
              <a:rPr lang="ru-RU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Приближенное решение</a:t>
            </a:r>
            <a:endParaRPr lang="ru-RU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mesh2 = 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UnitSquareMesh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64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 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64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 </a:t>
            </a: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</a:t>
            </a:r>
            <a:r>
              <a:rPr lang="ru-RU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Эталонное решение</a:t>
            </a:r>
            <a:endParaRPr lang="en-US" sz="1800" b="0" dirty="0">
              <a:solidFill>
                <a:srgbClr val="008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ru-RU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#absolute error %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u_e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= interpolate(u2, V1)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E1 = 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u_e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- u1)*dx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E1_error = </a:t>
            </a: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abs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(assemble(E1))*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#error L_2 %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E2_t = inner(u1-u_e,u1-u_e)*dx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E2_b = inner(u1,u1)*dx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E2 = sqrt(</a:t>
            </a: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abs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(assemble(E2_t))/</a:t>
            </a: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abs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(assemble(E2_b)))*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#error H_1 %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E3_t = inner(grad(u1-u_e),grad(u1-u_e))*dx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E3_b = inner(grad(u1),grad(u1))*dx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E3 = sqrt(</a:t>
            </a: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abs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(assemble(E3_t))/</a:t>
            </a: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abs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(assemble(E3_b)))*</a:t>
            </a:r>
            <a:r>
              <a:rPr lang="en-US" sz="1800" b="0" dirty="0">
                <a:solidFill>
                  <a:srgbClr val="09885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100</a:t>
            </a:r>
            <a:endParaRPr lang="en-US" sz="1800" b="0" dirty="0">
              <a:solidFill>
                <a:srgbClr val="000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"abs error = "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+ </a:t>
            </a:r>
            <a:r>
              <a:rPr lang="en-US" sz="1800" b="0" dirty="0">
                <a:solidFill>
                  <a:srgbClr val="267F9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(E1_error) + 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"%\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nerror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L2 = "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+ </a:t>
            </a:r>
            <a:r>
              <a:rPr lang="en-US" sz="1800" b="0" dirty="0">
                <a:solidFill>
                  <a:srgbClr val="267F9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(E2) + 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"%\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nerror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H1 = "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+ </a:t>
            </a:r>
            <a:r>
              <a:rPr lang="en-US" sz="1800" b="0" dirty="0">
                <a:solidFill>
                  <a:srgbClr val="267F9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(E3) + </a:t>
            </a:r>
            <a:r>
              <a:rPr lang="en-US" sz="1800" b="0" dirty="0">
                <a:solidFill>
                  <a:srgbClr val="A31515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"%"</a:t>
            </a:r>
            <a:r>
              <a:rPr lang="en-US" sz="1800" b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90033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Расчетные сетки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6D21A4-88A6-4587-864A-0F251B2D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29" y="2398776"/>
            <a:ext cx="3061034" cy="30610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C4D83D-5764-4213-9D64-1574D9F99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806" y="2398776"/>
            <a:ext cx="3070813" cy="30610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55C4B0-F1FC-4FD8-A630-7DFB03506DF5}"/>
                  </a:ext>
                </a:extLst>
              </p:cNvPr>
              <p:cNvSpPr txBox="1"/>
              <p:nvPr/>
            </p:nvSpPr>
            <p:spPr>
              <a:xfrm>
                <a:off x="1916029" y="5459810"/>
                <a:ext cx="306103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b="0" dirty="0">
                    <a:solidFill>
                      <a:srgbClr val="008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Сетка для приближенного решения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16×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55C4B0-F1FC-4FD8-A630-7DFB03506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029" y="5459810"/>
                <a:ext cx="3061034" cy="923330"/>
              </a:xfrm>
              <a:prstGeom prst="rect">
                <a:avLst/>
              </a:prstGeom>
              <a:blipFill>
                <a:blip r:embed="rId4"/>
                <a:stretch>
                  <a:fillRect t="-4636" r="-9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1C8AA7-0C07-4681-88E0-931406721715}"/>
                  </a:ext>
                </a:extLst>
              </p:cNvPr>
              <p:cNvSpPr txBox="1"/>
              <p:nvPr/>
            </p:nvSpPr>
            <p:spPr>
              <a:xfrm>
                <a:off x="6974806" y="5459810"/>
                <a:ext cx="307081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b="0" dirty="0">
                    <a:solidFill>
                      <a:srgbClr val="008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Сетка для </a:t>
                </a:r>
                <a:r>
                  <a:rPr lang="ru-RU" dirty="0">
                    <a:solidFill>
                      <a:srgbClr val="008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эталонного</a:t>
                </a:r>
                <a:r>
                  <a:rPr lang="ru-RU" sz="1800" b="0" dirty="0">
                    <a:solidFill>
                      <a:srgbClr val="008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решения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1C8AA7-0C07-4681-88E0-931406721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806" y="5459810"/>
                <a:ext cx="3070813" cy="923330"/>
              </a:xfrm>
              <a:prstGeom prst="rect">
                <a:avLst/>
              </a:prstGeom>
              <a:blipFill>
                <a:blip r:embed="rId5"/>
                <a:stretch>
                  <a:fillRect t="-4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48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038310"/>
            <a:ext cx="8539184" cy="4050792"/>
          </a:xfrm>
        </p:spPr>
        <p:txBody>
          <a:bodyPr>
            <a:normAutofit/>
          </a:bodyPr>
          <a:lstStyle/>
          <a:p>
            <a:pPr marL="617220" lvl="1" indent="-342900">
              <a:buAutoNum type="arabicPeriod"/>
            </a:pPr>
            <a:r>
              <a:rPr lang="ru-RU" sz="2400" dirty="0"/>
              <a:t>Построить следующую геометрическую область с четырьмя разными параметрами сетки(т.е. создать 4 расчетные сетки):</a:t>
            </a:r>
          </a:p>
          <a:p>
            <a:pPr marL="274320" lvl="1" indent="0">
              <a:buNone/>
            </a:pP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FD40BD-3517-45C4-952B-355DFD42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874" y="4853448"/>
            <a:ext cx="2948488" cy="14842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5931D66-AC83-47BF-A75F-1572A6806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001" y="3233193"/>
            <a:ext cx="2948488" cy="153083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03A1675-CBB4-440E-9EDB-4D053A625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952" y="3233193"/>
            <a:ext cx="2925410" cy="153628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623369A-3AA3-4459-9C07-6DB7B58F5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935" y="4838946"/>
            <a:ext cx="2948488" cy="153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9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9B91D-F669-4070-9726-8907665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964EFF-CB17-4291-85BB-353BC19BA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17220" lvl="1" indent="-342900">
                  <a:buAutoNum type="arabicPeriod" startAt="2"/>
                </a:pPr>
                <a:r>
                  <a:rPr lang="ru-RU" sz="2400" dirty="0"/>
                  <a:t>Вычислить следующее параболическое уравнение с использованием построенных расчетных сеток: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0&lt;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со следующими граничными условиями:</a:t>
                </a:r>
                <a:endParaRPr lang="en-US" sz="2400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	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=0.1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=0.06 </m:t>
                    </m:r>
                  </m:oMath>
                </a14:m>
                <a:endParaRPr lang="ru-RU" sz="24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964EFF-CB17-4291-85BB-353BC19BA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40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9B91D-F669-4070-9726-8907665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964EFF-CB17-4291-85BB-353BC19BA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31520" lvl="1" indent="-457200">
                  <a:buFont typeface="+mj-lt"/>
                  <a:buAutoNum type="arabicPeriod" startAt="3"/>
                </a:pPr>
                <a:r>
                  <a:rPr lang="ru-RU" sz="2400" dirty="0"/>
                  <a:t>Вычислить абсолютную и относительные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 погрешности для каждого десятого временного слоя с использованием построенных расчетных сеток. В качестве эталонного решения возьмите решение, вычисленное с использованием самой мелкой расчетной сетки.</a:t>
                </a:r>
              </a:p>
              <a:p>
                <a:pPr marL="731520" lvl="1" indent="-457200">
                  <a:buFont typeface="+mj-lt"/>
                  <a:buAutoNum type="arabicPeriod" startAt="3"/>
                </a:pPr>
                <a:endParaRPr lang="en-US" sz="24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0964EFF-CB17-4291-85BB-353BC19BA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05" r="-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259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Дерево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648</TotalTime>
  <Words>217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Cambria Math</vt:lpstr>
      <vt:lpstr>Georgia</vt:lpstr>
      <vt:lpstr>Trebuchet MS</vt:lpstr>
      <vt:lpstr>Wingdings</vt:lpstr>
      <vt:lpstr>Дерево</vt:lpstr>
      <vt:lpstr>Вычисление погрешностей</vt:lpstr>
      <vt:lpstr>Вычисление погрешностей</vt:lpstr>
      <vt:lpstr>Пример</vt:lpstr>
      <vt:lpstr>Вычислительная реализация</vt:lpstr>
      <vt:lpstr>Расчетные сетки</vt:lpstr>
      <vt:lpstr>Задание</vt:lpstr>
      <vt:lpstr>Задание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Kellerman</dc:creator>
  <cp:lastModifiedBy>Алексей Тырылгин</cp:lastModifiedBy>
  <cp:revision>51</cp:revision>
  <dcterms:created xsi:type="dcterms:W3CDTF">2022-10-09T10:49:43Z</dcterms:created>
  <dcterms:modified xsi:type="dcterms:W3CDTF">2024-11-06T08:46:40Z</dcterms:modified>
</cp:coreProperties>
</file>