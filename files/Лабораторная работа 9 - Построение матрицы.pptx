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21"/>
  </p:notesMasterIdLst>
  <p:sldIdLst>
    <p:sldId id="256" r:id="rId2"/>
    <p:sldId id="257" r:id="rId3"/>
    <p:sldId id="303" r:id="rId4"/>
    <p:sldId id="304" r:id="rId5"/>
    <p:sldId id="305" r:id="rId6"/>
    <p:sldId id="306" r:id="rId7"/>
    <p:sldId id="285" r:id="rId8"/>
    <p:sldId id="307" r:id="rId9"/>
    <p:sldId id="313" r:id="rId10"/>
    <p:sldId id="312" r:id="rId11"/>
    <p:sldId id="310" r:id="rId12"/>
    <p:sldId id="311" r:id="rId13"/>
    <p:sldId id="314" r:id="rId14"/>
    <p:sldId id="315" r:id="rId15"/>
    <p:sldId id="287" r:id="rId16"/>
    <p:sldId id="317" r:id="rId17"/>
    <p:sldId id="316" r:id="rId18"/>
    <p:sldId id="318" r:id="rId19"/>
    <p:sldId id="300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CC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Средний стиль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3993" autoAdjust="0"/>
  </p:normalViewPr>
  <p:slideViewPr>
    <p:cSldViewPr snapToGrid="0">
      <p:cViewPr varScale="1">
        <p:scale>
          <a:sx n="125" d="100"/>
          <a:sy n="125" d="100"/>
        </p:scale>
        <p:origin x="627" y="5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0CEC10-C05A-47AA-82D6-D3BC4BF6D467}" type="datetimeFigureOut">
              <a:rPr lang="ru-RU" smtClean="0"/>
              <a:t>10.12.2023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9E8E2C-279F-4670-83CE-281DEC4E5DE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242764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9E8E2C-279F-4670-83CE-281DEC4E5DE1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610584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9E8E2C-279F-4670-83CE-281DEC4E5DE1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020636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9E8E2C-279F-4670-83CE-281DEC4E5DE1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980647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3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3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3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10" name="Group 9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 anchor="ctr">
            <a:noAutofit/>
          </a:bodyPr>
          <a:lstStyle>
            <a:lvl1pPr algn="l">
              <a:lnSpc>
                <a:spcPct val="85000"/>
              </a:lnSpc>
              <a:defRPr sz="7200" b="1" cap="none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83CA84-5427-410A-9B6F-78174845156C}" type="datetimeFigureOut">
              <a:rPr lang="ru-RU" smtClean="0"/>
              <a:t>10.12.2023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92733" y="4289334"/>
            <a:ext cx="1193868" cy="640080"/>
          </a:xfrm>
        </p:spPr>
        <p:txBody>
          <a:bodyPr/>
          <a:lstStyle>
            <a:lvl1pPr>
              <a:defRPr sz="2800" b="1"/>
            </a:lvl1pPr>
          </a:lstStyle>
          <a:p>
            <a:fld id="{6B4DAE9B-3B4E-4647-ABAC-9706BCD8AB0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584467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83CA84-5427-410A-9B6F-78174845156C}" type="datetimeFigureOut">
              <a:rPr lang="ru-RU" smtClean="0"/>
              <a:t>10.12.2023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4DAE9B-3B4E-4647-ABAC-9706BCD8AB0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679995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>
              <a:alphaModFix amt="83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</p:spPr>
        <p:txBody>
          <a:bodyPr anchor="ctr">
            <a:normAutofit/>
          </a:bodyPr>
          <a:lstStyle>
            <a:lvl1pPr>
              <a:lnSpc>
                <a:spcPct val="85000"/>
              </a:lnSpc>
              <a:defRPr sz="7200" b="1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93667" y="6272784"/>
            <a:ext cx="2644309" cy="365125"/>
          </a:xfrm>
        </p:spPr>
        <p:txBody>
          <a:bodyPr/>
          <a:lstStyle/>
          <a:p>
            <a:fld id="{9083CA84-5427-410A-9B6F-78174845156C}" type="datetimeFigureOut">
              <a:rPr lang="ru-RU" smtClean="0"/>
              <a:t>10.12.2023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82708" y="6272784"/>
            <a:ext cx="6327648" cy="365125"/>
          </a:xfrm>
        </p:spPr>
        <p:txBody>
          <a:bodyPr/>
          <a:lstStyle/>
          <a:p>
            <a:endParaRPr lang="ru-RU"/>
          </a:p>
        </p:txBody>
      </p:sp>
      <p:grpSp>
        <p:nvGrpSpPr>
          <p:cNvPr id="8" name="Group 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702" y="2506133"/>
            <a:ext cx="1188298" cy="720332"/>
          </a:xfrm>
        </p:spPr>
        <p:txBody>
          <a:bodyPr/>
          <a:lstStyle>
            <a:lvl1pPr>
              <a:defRPr sz="2800"/>
            </a:lvl1pPr>
          </a:lstStyle>
          <a:p>
            <a:fld id="{6B4DAE9B-3B4E-4647-ABAC-9706BCD8AB0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641696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848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4224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83CA84-5427-410A-9B6F-78174845156C}" type="datetimeFigureOut">
              <a:rPr lang="ru-RU" smtClean="0"/>
              <a:t>10.12.2023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4DAE9B-3B4E-4647-ABAC-9706BCD8AB0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810724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4224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4224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83CA84-5427-410A-9B6F-78174845156C}" type="datetimeFigureOut">
              <a:rPr lang="ru-RU" smtClean="0"/>
              <a:t>10.12.2023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4DAE9B-3B4E-4647-ABAC-9706BCD8AB0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130224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83CA84-5427-410A-9B6F-78174845156C}" type="datetimeFigureOut">
              <a:rPr lang="ru-RU" smtClean="0"/>
              <a:t>10.12.2023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4DAE9B-3B4E-4647-ABAC-9706BCD8AB0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951411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83CA84-5427-410A-9B6F-78174845156C}" type="datetimeFigureOut">
              <a:rPr lang="ru-RU" smtClean="0"/>
              <a:t>10.12.2023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4DAE9B-3B4E-4647-ABAC-9706BCD8AB0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909964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6711696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83CA84-5427-410A-9B6F-78174845156C}" type="datetimeFigureOut">
              <a:rPr lang="ru-RU" smtClean="0"/>
              <a:t>10.12.2023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4DAE9B-3B4E-4647-ABAC-9706BCD8AB0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964256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30374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83CA84-5427-410A-9B6F-78174845156C}" type="datetimeFigureOut">
              <a:rPr lang="ru-RU" smtClean="0"/>
              <a:t>10.12.2023</a:t>
            </a:fld>
            <a:endParaRPr lang="ru-RU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4DAE9B-3B4E-4647-ABAC-9706BCD8AB0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619185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83CA84-5427-410A-9B6F-78174845156C}" type="datetimeFigureOut">
              <a:rPr lang="ru-RU" smtClean="0"/>
              <a:t>10.12.2023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4DAE9B-3B4E-4647-ABAC-9706BCD8AB0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260918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533400"/>
            <a:ext cx="2552700" cy="5638800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533400"/>
            <a:ext cx="7505700" cy="5638800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83CA84-5427-410A-9B6F-78174845156C}" type="datetimeFigureOut">
              <a:rPr lang="ru-RU" smtClean="0"/>
              <a:t>10.12.2023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4DAE9B-3B4E-4647-ABAC-9706BCD8AB0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18122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fld id="{9083CA84-5427-410A-9B6F-78174845156C}" type="datetimeFigureOut">
              <a:rPr lang="ru-RU" smtClean="0"/>
              <a:t>10.12.2023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rgbClr val="FFFFFF"/>
                </a:solidFill>
                <a:latin typeface="+mn-lt"/>
              </a:defRPr>
            </a:lvl1pPr>
          </a:lstStyle>
          <a:p>
            <a:fld id="{6B4DAE9B-3B4E-4647-ABAC-9706BCD8AB0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004665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800" b="1" kern="1200" cap="none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1B2BC1B-B54C-4AF6-A758-A8E007EFDC9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Построение матриц конечных элементов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3FCFB13B-C16D-4407-BB11-F48A2565938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51560" y="4355929"/>
            <a:ext cx="7891272" cy="1069848"/>
          </a:xfrm>
        </p:spPr>
        <p:txBody>
          <a:bodyPr/>
          <a:lstStyle/>
          <a:p>
            <a:r>
              <a:rPr lang="ru-RU" dirty="0"/>
              <a:t>Алексеев Валентин Николаевич</a:t>
            </a:r>
          </a:p>
        </p:txBody>
      </p:sp>
    </p:spTree>
    <p:extLst>
      <p:ext uri="{BB962C8B-B14F-4D97-AF65-F5344CB8AC3E}">
        <p14:creationId xmlns:p14="http://schemas.microsoft.com/office/powerpoint/2010/main" val="1570273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5A55CFD-66DE-487C-80DE-2B0742FC18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Построение матрицы </a:t>
            </a:r>
            <a:r>
              <a:rPr lang="ru-RU" dirty="0" err="1"/>
              <a:t>кэ</a:t>
            </a:r>
            <a:r>
              <a:rPr lang="ru-RU" dirty="0"/>
              <a:t> для одномерного случая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0B315426-518B-42C3-AE07-5BBDC6ECE1D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69848" y="2121408"/>
                <a:ext cx="10207751" cy="4050792"/>
              </a:xfrm>
            </p:spPr>
            <p:txBody>
              <a:bodyPr>
                <a:noAutofit/>
              </a:bodyPr>
              <a:lstStyle/>
              <a:p>
                <a:pPr marL="274320" lvl="1" indent="0">
                  <a:buNone/>
                </a:pPr>
                <a:r>
                  <a:rPr lang="ru-RU" sz="2000" dirty="0"/>
                  <a:t>Для построения одномерной матрицы будем использовать следующие линейные функции:</a:t>
                </a:r>
              </a:p>
              <a:p>
                <a:pPr marL="274320" lvl="1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num>
                        <m:den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en-US" sz="2000" dirty="0"/>
              </a:p>
              <a:p>
                <a:pPr marL="274320" lvl="1" indent="0">
                  <a:buNone/>
                </a:pPr>
                <a:r>
                  <a:rPr lang="ru-RU" sz="2000" dirty="0"/>
                  <a:t>заданные на отрезке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sz="2000" dirty="0"/>
              </a:p>
              <a:p>
                <a:pPr marL="274320" lvl="1" indent="0">
                  <a:buNone/>
                </a:pPr>
                <a:r>
                  <a:rPr lang="ru-RU" sz="2000" dirty="0"/>
                  <a:t>Базисные функции и решение на отрезке выглядят следующим образом:</a:t>
                </a:r>
              </a:p>
              <a:p>
                <a:pPr marL="27432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"/>
                              <m:endChr m:val="|"/>
                              <m:ctrlPr>
                                <a:rPr lang="ru-RU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ru-RU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sz="2000" i="1">
                                      <a:latin typeface="Cambria Math" panose="02040503050406030204" pitchFamily="18" charset="0"/>
                                    </a:rPr>
                                    <m:t>𝜙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"/>
                              <m:endChr m:val="|"/>
                              <m:ctrlPr>
                                <a:rPr lang="ru-RU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   </m:t>
                              </m:r>
                              <m:sSub>
                                <m:sSubPr>
                                  <m:ctrlPr>
                                    <a:rPr lang="ru-RU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sz="2000" i="1">
                                      <a:latin typeface="Cambria Math" panose="02040503050406030204" pitchFamily="18" charset="0"/>
                                    </a:rPr>
                                    <m:t>𝜙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𝑒</m:t>
                          </m:r>
                        </m:sub>
                      </m:sSub>
                      <m:r>
                        <a:rPr lang="en-US" sz="20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en-US" sz="2000" i="1" baseline="-25000" dirty="0"/>
              </a:p>
              <a:p>
                <a:pPr marL="27432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sub>
                      </m:sSub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,  ∀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𝑒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US" sz="2000" dirty="0"/>
              </a:p>
              <a:p>
                <a:pPr marL="274320" lvl="1" indent="0">
                  <a:buNone/>
                </a:pPr>
                <a:r>
                  <a:rPr lang="ru-RU" sz="2000" dirty="0"/>
                  <a:t>Решение представим в виде линейной комбинации заданных базисных функций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𝜙</m:t>
                    </m:r>
                    <m:r>
                      <a:rPr lang="en-US" sz="2000" b="0" i="0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endParaRPr lang="en-US" sz="2000" dirty="0"/>
              </a:p>
              <a:p>
                <a:pPr marL="274320" lvl="1" indent="0" algn="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𝜙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ru-RU" sz="2000" b="0" i="1" smtClean="0">
                          <a:latin typeface="Cambria Math" panose="02040503050406030204" pitchFamily="18" charset="0"/>
                        </a:rPr>
                        <m:t>        (1)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0B315426-518B-42C3-AE07-5BBDC6ECE1D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69848" y="2121408"/>
                <a:ext cx="10207751" cy="4050792"/>
              </a:xfrm>
              <a:blipFill>
                <a:blip r:embed="rId2"/>
                <a:stretch>
                  <a:fillRect t="-1654" r="-6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635354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5A55CFD-66DE-487C-80DE-2B0742FC18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Построение матрицы </a:t>
            </a:r>
            <a:r>
              <a:rPr lang="ru-RU" dirty="0" err="1"/>
              <a:t>кэ</a:t>
            </a:r>
            <a:r>
              <a:rPr lang="ru-RU" dirty="0"/>
              <a:t> для одномерного случая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0B315426-518B-42C3-AE07-5BBDC6ECE1D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69848" y="2121408"/>
                <a:ext cx="10207751" cy="4050792"/>
              </a:xfrm>
            </p:spPr>
            <p:txBody>
              <a:bodyPr>
                <a:normAutofit/>
              </a:bodyPr>
              <a:lstStyle/>
              <a:p>
                <a:pPr marL="274320" lvl="1" indent="0">
                  <a:buNone/>
                </a:pPr>
                <a:r>
                  <a:rPr lang="ru-RU" dirty="0"/>
                  <a:t>Построим матрицы для следующей задачи</a:t>
                </a:r>
              </a:p>
              <a:p>
                <a:pPr marL="27432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∇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∙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∇u</m:t>
                          </m:r>
                        </m:e>
                      </m:d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q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</m:d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u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f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,    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∈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0,1</m:t>
                          </m:r>
                        </m:e>
                      </m:d>
                    </m:oMath>
                  </m:oMathPara>
                </a14:m>
                <a:endParaRPr lang="en-US" b="0" dirty="0"/>
              </a:p>
              <a:p>
                <a:pPr marL="274320" lvl="1" indent="0">
                  <a:buNone/>
                </a:pPr>
                <a:r>
                  <a:rPr lang="ru-RU" dirty="0"/>
                  <a:t>Вариационная постановка данной задачи выглядит следующим образом:</a:t>
                </a:r>
              </a:p>
              <a:p>
                <a:pPr marL="274320" lvl="1" indent="0">
                  <a:buNone/>
                </a:pPr>
                <a:r>
                  <a:rPr lang="ru-RU" dirty="0"/>
                  <a:t>	Найти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dirty="0"/>
                  <a:t> </a:t>
                </a:r>
                <a:r>
                  <a:rPr lang="ru-RU" dirty="0"/>
                  <a:t>такую что</a:t>
                </a:r>
              </a:p>
              <a:p>
                <a:pPr marL="27432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𝑎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𝐿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   ∀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en-US" b="0" dirty="0"/>
              </a:p>
              <a:p>
                <a:pPr marL="274320" lvl="1" indent="0">
                  <a:buNone/>
                </a:pPr>
                <a:r>
                  <a:rPr lang="ru-RU" dirty="0"/>
                  <a:t>где</a:t>
                </a:r>
              </a:p>
              <a:p>
                <a:pPr marL="27432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𝑎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limLoc m:val="undOvr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4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∇u∇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𝑢𝑣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 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𝐿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limLoc m:val="undOvr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4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en-US" dirty="0"/>
              </a:p>
              <a:p>
                <a:pPr marL="274320" lvl="1" indent="0">
                  <a:buNone/>
                </a:pPr>
                <a:r>
                  <a:rPr lang="ru-RU" dirty="0"/>
                  <a:t>подставим их в формулу (1) получим:</a:t>
                </a:r>
              </a:p>
              <a:p>
                <a:pPr marL="27432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nary>
                      <m:nary>
                        <m:naryPr>
                          <m:limLoc m:val="undOvr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4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  <m:e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 smtClean="0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𝜙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US" i="1" smtClean="0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en-US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den>
                          </m:f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 smtClean="0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𝜙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US" i="1" smtClean="0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en-US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den>
                          </m:f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𝑑𝑥</m:t>
                      </m:r>
                      <m:r>
                        <a:rPr lang="ru-RU" b="0" i="1" smtClean="0"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nary>
                      <m:nary>
                        <m:naryPr>
                          <m:limLoc m:val="undOvr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4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𝜙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𝜙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nary>
                      <m:r>
                        <a:rPr lang="en-US" i="1">
                          <a:latin typeface="Cambria Math" panose="02040503050406030204" pitchFamily="18" charset="0"/>
                        </a:rPr>
                        <m:t>𝑑𝑥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limLoc m:val="undOvr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4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𝜙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𝑑𝑥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 ∀=1,…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0B315426-518B-42C3-AE07-5BBDC6ECE1D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69848" y="2121408"/>
                <a:ext cx="10207751" cy="4050792"/>
              </a:xfrm>
              <a:blipFill>
                <a:blip r:embed="rId2"/>
                <a:stretch>
                  <a:fillRect t="-150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211924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5A55CFD-66DE-487C-80DE-2B0742FC18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Построение матрицы </a:t>
            </a:r>
            <a:r>
              <a:rPr lang="ru-RU" dirty="0" err="1"/>
              <a:t>кэ</a:t>
            </a:r>
            <a:r>
              <a:rPr lang="ru-RU" dirty="0"/>
              <a:t> для одномерного случая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0B315426-518B-42C3-AE07-5BBDC6ECE1D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69848" y="2121408"/>
                <a:ext cx="10207751" cy="4050792"/>
              </a:xfrm>
            </p:spPr>
            <p:txBody>
              <a:bodyPr>
                <a:noAutofit/>
              </a:bodyPr>
              <a:lstStyle/>
              <a:p>
                <a:pPr marL="274320" lvl="1" indent="0">
                  <a:buNone/>
                </a:pPr>
                <a:r>
                  <a:rPr lang="ru-RU" sz="2000" dirty="0"/>
                  <a:t>Подставим в соотношения для каждого элемента области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</m:oMath>
                </a14:m>
                <a:r>
                  <a:rPr lang="ru-RU" sz="2000" dirty="0"/>
                  <a:t> имеем</a:t>
                </a:r>
                <a:endParaRPr lang="en-US" sz="2000" dirty="0"/>
              </a:p>
              <a:p>
                <a:pPr marL="27432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nary>
                      <m:nary>
                        <m:naryPr>
                          <m:chr m:val="∑"/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nary>
                            <m:naryPr>
                              <m:limLoc m:val="undOvr"/>
                              <m:supHide m:val="on"/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sSub>
                                <m:sSub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24"/>
                                    </m:r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b>
                                  <m:r>
                                    <m:rPr>
                                      <m:brk m:alnAt="24"/>
                                    </m:r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</m:sub>
                            <m:sup/>
                            <m:e>
                              <m:f>
                                <m:f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sSub>
                                    <m:sSubPr>
                                      <m:ctrlP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𝜙</m:t>
                                      </m:r>
                                    </m:e>
                                    <m:sub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den>
                              </m:f>
                              <m:f>
                                <m:f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sSub>
                                    <m:sSubPr>
                                      <m:ctrlP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𝜙</m:t>
                                      </m:r>
                                    </m:e>
                                    <m:sub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den>
                              </m:f>
                            </m:e>
                          </m:nary>
                        </m:e>
                      </m:nary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𝑑𝑥</m:t>
                      </m:r>
                      <m:r>
                        <a:rPr lang="ru-RU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000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𝑞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)</m:t>
                          </m:r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nary>
                      <m:nary>
                        <m:naryPr>
                          <m:chr m:val="∑"/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nary>
                            <m:naryPr>
                              <m:limLoc m:val="undOvr"/>
                              <m:supHide m:val="on"/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sSub>
                                <m:sSub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24"/>
                                    </m:r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b>
                                  <m:r>
                                    <m:rPr>
                                      <m:brk m:alnAt="24"/>
                                    </m:r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</m:sub>
                            <m:sup/>
                            <m:e>
                              <m:sSub>
                                <m:sSub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𝜙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𝜙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nary>
                        </m:e>
                      </m:nary>
                      <m:r>
                        <a:rPr lang="en-US" sz="2000" i="1">
                          <a:latin typeface="Cambria Math" panose="02040503050406030204" pitchFamily="18" charset="0"/>
                        </a:rPr>
                        <m:t>𝑑𝑥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nary>
                            <m:naryPr>
                              <m:limLoc m:val="undOvr"/>
                              <m:supHide m:val="on"/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sSub>
                                <m:sSub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24"/>
                                    </m:r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b>
                                  <m:r>
                                    <m:rPr>
                                      <m:brk m:alnAt="24"/>
                                    </m:r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</m:sub>
                            <m:sup/>
                            <m:e>
                              <m:sSub>
                                <m:sSub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𝜙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nary>
                        </m:e>
                      </m:nary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𝑑𝑥</m:t>
                      </m:r>
                    </m:oMath>
                  </m:oMathPara>
                </a14:m>
                <a:endParaRPr lang="en-US" sz="2000" dirty="0"/>
              </a:p>
              <a:p>
                <a:pPr marL="274320" lvl="1" indent="0">
                  <a:buNone/>
                </a:pPr>
                <a:r>
                  <a:rPr lang="ru-RU" sz="2000" dirty="0"/>
                  <a:t>Пусть</a:t>
                </a:r>
              </a:p>
              <a:p>
                <a:pPr marL="274320" lvl="1" indent="0" algn="ctr">
                  <a:buNone/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b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supHide m:val="on"/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sub>
                      <m:sup/>
                      <m:e>
                        <m:f>
                          <m:f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𝜕</m:t>
                            </m:r>
                            <m:sSub>
                              <m:sSub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𝜙</m:t>
                                </m:r>
                              </m:e>
                              <m:sub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num>
                          <m:den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𝜕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  <m:f>
                          <m:f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𝜕</m:t>
                            </m:r>
                            <m:sSub>
                              <m:sSub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𝜙</m:t>
                                </m:r>
                              </m:e>
                              <m:sub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</m:num>
                          <m:den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𝜕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𝑑𝑥</m:t>
                        </m:r>
                      </m:e>
                    </m:nary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 </m:t>
                    </m:r>
                    <m:sSubSup>
                      <m:sSub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b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supHide m:val="on"/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sub>
                      <m:sup/>
                      <m:e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𝜙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𝜙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𝑑𝑥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,  </m:t>
                        </m:r>
                        <m:sSubSup>
                          <m:sSubSup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</m:sSub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=</m:t>
                        </m:r>
                      </m:e>
                    </m:nary>
                  </m:oMath>
                </a14:m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nary>
                      <m:naryPr>
                        <m:limLoc m:val="undOvr"/>
                        <m:supHide m:val="on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brk m:alnAt="24"/>
                              </m:rPr>
                              <a:rPr lang="en-US" sz="2400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b>
                            <m:r>
                              <m:rPr>
                                <m:brk m:alnAt="24"/>
                              </m:rPr>
                              <a:rPr lang="en-US" sz="24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sub>
                      <m:sup/>
                      <m:e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𝑓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𝜙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</a:rPr>
                      <m:t>dx</m:t>
                    </m:r>
                  </m:oMath>
                </a14:m>
                <a:endParaRPr lang="en-US" sz="2400" dirty="0"/>
              </a:p>
              <a:p>
                <a:pPr marL="274320" lvl="1" indent="0">
                  <a:buNone/>
                </a:pPr>
                <a:endParaRPr lang="en-US" sz="2000" dirty="0"/>
              </a:p>
              <a:p>
                <a:pPr marL="274320" lvl="1" indent="0">
                  <a:buNone/>
                </a:pPr>
                <a:endParaRPr lang="en-US" sz="2000" dirty="0"/>
              </a:p>
              <a:p>
                <a:pPr marL="274320" lvl="1" indent="0">
                  <a:buNone/>
                </a:pPr>
                <a:endParaRPr lang="en-US" sz="2000" dirty="0"/>
              </a:p>
              <a:p>
                <a:pPr marL="274320" lvl="1" indent="0">
                  <a:buNone/>
                </a:pPr>
                <a:endParaRPr lang="en-US" sz="2000" dirty="0"/>
              </a:p>
              <a:p>
                <a:pPr marL="274320" lvl="1" indent="0">
                  <a:buNone/>
                </a:pPr>
                <a:endParaRPr lang="en-US" sz="2000" dirty="0"/>
              </a:p>
              <a:p>
                <a:pPr marL="274320" lvl="1" indent="0">
                  <a:buNone/>
                </a:pPr>
                <a:endParaRPr lang="en-US" sz="2000" dirty="0"/>
              </a:p>
              <a:p>
                <a:pPr marL="274320" lvl="1" indent="0">
                  <a:buNone/>
                </a:pPr>
                <a:endParaRPr lang="en-US" sz="2000" dirty="0"/>
              </a:p>
              <a:p>
                <a:pPr marL="274320" lvl="1" indent="0">
                  <a:buNone/>
                </a:pPr>
                <a:endParaRPr lang="ru-RU" sz="2000" dirty="0"/>
              </a:p>
              <a:p>
                <a:pPr marL="274320" lvl="1" indent="0" algn="ctr">
                  <a:buNone/>
                </a:pPr>
                <a:r>
                  <a:rPr lang="ru-RU" sz="2000" dirty="0"/>
                  <a:t> </a:t>
                </a:r>
                <a:endParaRPr lang="en-US" sz="2000" dirty="0"/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0B315426-518B-42C3-AE07-5BBDC6ECE1D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69848" y="2121408"/>
                <a:ext cx="10207751" cy="4050792"/>
              </a:xfrm>
              <a:blipFill>
                <a:blip r:embed="rId2"/>
                <a:stretch>
                  <a:fillRect t="-165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629402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5A55CFD-66DE-487C-80DE-2B0742FC18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Построение матрицы </a:t>
            </a:r>
            <a:r>
              <a:rPr lang="ru-RU" dirty="0" err="1"/>
              <a:t>кэ</a:t>
            </a:r>
            <a:r>
              <a:rPr lang="ru-RU" dirty="0"/>
              <a:t> для одномерного случая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0B315426-518B-42C3-AE07-5BBDC6ECE1D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69848" y="2121408"/>
                <a:ext cx="10207751" cy="4050792"/>
              </a:xfrm>
            </p:spPr>
            <p:txBody>
              <a:bodyPr>
                <a:noAutofit/>
              </a:bodyPr>
              <a:lstStyle/>
              <a:p>
                <a:pPr marL="274320" lvl="1" indent="0">
                  <a:buNone/>
                </a:pPr>
                <a:r>
                  <a:rPr lang="ru-RU" sz="2000" dirty="0"/>
                  <a:t>Матрицы жесткости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ru-RU" sz="2400" dirty="0"/>
                  <a:t> </a:t>
                </a:r>
                <a:r>
                  <a:rPr lang="ru-RU" sz="2000" dirty="0">
                    <a:solidFill>
                      <a:prstClr val="black"/>
                    </a:solidFill>
                  </a:rPr>
                  <a:t>масс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US" sz="20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r>
                  <a:rPr lang="ru-RU" sz="2400" dirty="0"/>
                  <a:t> </a:t>
                </a:r>
                <a:r>
                  <a:rPr lang="ru-RU" sz="2000" dirty="0"/>
                  <a:t>и вектор нагрузок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r>
                  <a:rPr lang="ru-RU" sz="2400" dirty="0"/>
                  <a:t> </a:t>
                </a:r>
                <a:r>
                  <a:rPr lang="ru-RU" sz="2000" dirty="0"/>
                  <a:t>элемента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sz="2000" b="0" i="0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endParaRPr lang="en-US" sz="2400" dirty="0"/>
              </a:p>
              <a:p>
                <a:pPr marL="274320" lvl="1" indent="0">
                  <a:buNone/>
                </a:pPr>
                <a:endParaRPr lang="en-US" sz="2000" dirty="0"/>
              </a:p>
              <a:p>
                <a:pPr marL="274320" lvl="1" indent="0">
                  <a:buNone/>
                </a:pPr>
                <a:endParaRPr lang="en-US" sz="2000" dirty="0"/>
              </a:p>
              <a:p>
                <a:pPr marL="274320" lvl="1" indent="0">
                  <a:buNone/>
                </a:pPr>
                <a:endParaRPr lang="en-US" sz="2000" dirty="0"/>
              </a:p>
              <a:p>
                <a:pPr marL="274320" lvl="1" indent="0">
                  <a:buNone/>
                </a:pPr>
                <a:endParaRPr lang="en-US" sz="2000" dirty="0"/>
              </a:p>
              <a:p>
                <a:pPr marL="274320" lvl="1" indent="0">
                  <a:buNone/>
                </a:pPr>
                <a:endParaRPr lang="en-US" sz="2000" dirty="0"/>
              </a:p>
              <a:p>
                <a:pPr marL="274320" lvl="1" indent="0">
                  <a:buNone/>
                </a:pPr>
                <a:endParaRPr lang="en-US" sz="2000" dirty="0"/>
              </a:p>
              <a:p>
                <a:pPr marL="274320" lvl="1" indent="0">
                  <a:buNone/>
                </a:pPr>
                <a:endParaRPr lang="en-US" sz="2000" dirty="0"/>
              </a:p>
              <a:p>
                <a:pPr marL="274320" lvl="1" indent="0">
                  <a:buNone/>
                </a:pPr>
                <a:r>
                  <a:rPr lang="ru-RU" sz="2000" dirty="0"/>
                  <a:t>Тогда уравнение можно записать следующим образом:</a:t>
                </a:r>
              </a:p>
              <a:p>
                <a:pPr marL="274320" lvl="1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𝐴𝑌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𝐵𝑌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𝐹</m:t>
                      </m:r>
                    </m:oMath>
                  </m:oMathPara>
                </a14:m>
                <a:endParaRPr lang="en-US" sz="2000" dirty="0"/>
              </a:p>
              <a:p>
                <a:pPr marL="274320" lvl="1" indent="0">
                  <a:buNone/>
                </a:pPr>
                <a:endParaRPr lang="en-US" sz="2000" dirty="0"/>
              </a:p>
              <a:p>
                <a:pPr marL="274320" lvl="1" indent="0">
                  <a:buNone/>
                </a:pPr>
                <a:endParaRPr lang="ru-RU" sz="2000" dirty="0"/>
              </a:p>
              <a:p>
                <a:pPr marL="274320" lvl="1" indent="0" algn="ctr">
                  <a:buNone/>
                </a:pPr>
                <a:r>
                  <a:rPr lang="ru-RU" sz="2000" dirty="0"/>
                  <a:t> </a:t>
                </a:r>
                <a:endParaRPr lang="en-US" sz="2000" dirty="0"/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0B315426-518B-42C3-AE07-5BBDC6ECE1D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69848" y="2121408"/>
                <a:ext cx="10207751" cy="4050792"/>
              </a:xfrm>
              <a:blipFill>
                <a:blip r:embed="rId2"/>
                <a:stretch>
                  <a:fillRect t="-45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3652CC05-2CEE-4E82-B687-59BFF4D791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3867" y="2687553"/>
            <a:ext cx="4884266" cy="2269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34029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5A55CFD-66DE-487C-80DE-2B0742FC18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Построение матрицы </a:t>
            </a:r>
            <a:r>
              <a:rPr lang="ru-RU" dirty="0" err="1"/>
              <a:t>кэ</a:t>
            </a:r>
            <a:r>
              <a:rPr lang="ru-RU" dirty="0"/>
              <a:t> для одномерного случая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0B315426-518B-42C3-AE07-5BBDC6ECE1D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69848" y="2121408"/>
                <a:ext cx="10207751" cy="4050792"/>
              </a:xfrm>
            </p:spPr>
            <p:txBody>
              <a:bodyPr>
                <a:noAutofit/>
              </a:bodyPr>
              <a:lstStyle/>
              <a:p>
                <a:pPr marL="274320" lvl="1" indent="0">
                  <a:buNone/>
                </a:pPr>
                <a:r>
                  <a:rPr lang="ru-RU" sz="2000" dirty="0"/>
                  <a:t>Для нашей задачи получим следующие локальные матрицы для случая линейных базисных функций:</a:t>
                </a:r>
              </a:p>
              <a:p>
                <a:pPr marL="274320" lvl="1" indent="0" algn="ctr">
                  <a:buNone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sub>
                        </m:sSub>
                      </m:num>
                      <m:den>
                        <m:r>
                          <m:rPr>
                            <m:sty m:val="p"/>
                          </m:rPr>
                          <a:rPr lang="en-US" sz="2000" b="0" i="0" smtClean="0">
                            <a:latin typeface="Cambria Math" panose="02040503050406030204" pitchFamily="18" charset="0"/>
                          </a:rPr>
                          <m:t>Δ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d>
                      <m:dPr>
                        <m:begChr m:val="["/>
                        <m:endChr m:val="]"/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mr>
                          <m:m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, </m:t>
                    </m:r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US" sz="2000" b="0" i="0" smtClean="0">
                            <a:latin typeface="Cambria Math" panose="02040503050406030204" pitchFamily="18" charset="0"/>
                          </a:rPr>
                          <m:t>Δ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d>
                      <m:dPr>
                        <m:begChr m:val="["/>
                        <m:endChr m:val="]"/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</m:m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, </m:t>
                    </m:r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US" sz="2000" b="0" i="0" smtClean="0">
                            <a:latin typeface="Cambria Math" panose="02040503050406030204" pitchFamily="18" charset="0"/>
                          </a:rPr>
                          <m:t>Δ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begChr m:val="["/>
                        <m:endChr m:val="]"/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  <m:r>
                      <a:rPr lang="en-US" sz="2000" b="0" i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ru-RU" sz="2000" b="0" i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ru-RU" sz="2000" dirty="0"/>
                  <a:t>где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ru-RU" sz="2000" b="0" i="0" smtClean="0">
                        <a:latin typeface="Cambria Math" panose="02040503050406030204" pitchFamily="18" charset="0"/>
                      </a:rPr>
                      <m:t>Δ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US" sz="2000" dirty="0"/>
              </a:p>
              <a:p>
                <a:pPr marL="274320" lvl="1" indent="0">
                  <a:buNone/>
                </a:pPr>
                <a:endParaRPr lang="ru-RU" sz="2000" dirty="0"/>
              </a:p>
              <a:p>
                <a:pPr marL="274320" lvl="1" indent="0">
                  <a:buNone/>
                </a:pPr>
                <a:r>
                  <a:rPr lang="ru-RU" sz="2000" dirty="0"/>
                  <a:t>Далее представим исходный код вычислительной реализации нашей задачи на языке </a:t>
                </a:r>
                <a:r>
                  <a:rPr lang="en-US" sz="2000" dirty="0"/>
                  <a:t>Python </a:t>
                </a:r>
                <a:r>
                  <a:rPr lang="ru-RU" sz="2000" dirty="0"/>
                  <a:t>и построим матрицы для одномерной сетки, состоящий из 5 отрезков</a:t>
                </a:r>
                <a:r>
                  <a:rPr lang="en-US" sz="2000" dirty="0"/>
                  <a:t>:</a:t>
                </a:r>
                <a:endParaRPr lang="ru-RU" sz="2000" dirty="0"/>
              </a:p>
              <a:p>
                <a:pPr marL="274320" lvl="1" indent="0">
                  <a:buNone/>
                </a:pPr>
                <a:endParaRPr lang="ru-RU" sz="2000" dirty="0"/>
              </a:p>
              <a:p>
                <a:pPr marL="274320" lvl="1" indent="0" algn="ctr">
                  <a:buNone/>
                </a:pPr>
                <a:r>
                  <a:rPr lang="ru-RU" sz="2000" dirty="0"/>
                  <a:t> </a:t>
                </a:r>
                <a:endParaRPr lang="en-US" sz="2000" dirty="0"/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0B315426-518B-42C3-AE07-5BBDC6ECE1D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69848" y="2121408"/>
                <a:ext cx="10207751" cy="4050792"/>
              </a:xfrm>
              <a:blipFill>
                <a:blip r:embed="rId3"/>
                <a:stretch>
                  <a:fillRect t="-1654" r="-89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2EB685D3-C8DF-4AD4-A0D5-0256F372BF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54110" y="4988018"/>
            <a:ext cx="9039225" cy="485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0345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5A55CFD-66DE-487C-80DE-2B0742FC18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Построение матрицы </a:t>
            </a:r>
            <a:r>
              <a:rPr lang="ru-RU" dirty="0" err="1"/>
              <a:t>кэ</a:t>
            </a:r>
            <a:r>
              <a:rPr lang="ru-RU" dirty="0"/>
              <a:t> для одномерного случая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B315426-518B-42C3-AE07-5BBDC6ECE1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3752" y="2093976"/>
            <a:ext cx="4583069" cy="4279392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400" dirty="0"/>
              <a:t>from </a:t>
            </a:r>
            <a:r>
              <a:rPr lang="en-US" sz="1400" dirty="0" err="1"/>
              <a:t>dolfin</a:t>
            </a:r>
            <a:r>
              <a:rPr lang="en-US" sz="1400" dirty="0"/>
              <a:t> import *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400" dirty="0"/>
              <a:t>import </a:t>
            </a:r>
            <a:r>
              <a:rPr lang="en-US" sz="1400" dirty="0" err="1"/>
              <a:t>numpy</a:t>
            </a:r>
            <a:endParaRPr lang="en-US" sz="1400" dirty="0"/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400" dirty="0"/>
              <a:t>parameters["</a:t>
            </a:r>
            <a:r>
              <a:rPr lang="en-US" sz="1400" dirty="0" err="1"/>
              <a:t>reorder_dofs_serial</a:t>
            </a:r>
            <a:r>
              <a:rPr lang="en-US" sz="1400" dirty="0"/>
              <a:t>"] = False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400" dirty="0"/>
              <a:t>N = 5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400" dirty="0"/>
              <a:t>mesh = </a:t>
            </a:r>
            <a:r>
              <a:rPr lang="en-US" sz="1400" dirty="0" err="1"/>
              <a:t>UnitIntervalMesh</a:t>
            </a:r>
            <a:r>
              <a:rPr lang="en-US" sz="1400" dirty="0"/>
              <a:t>(N)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400" dirty="0"/>
              <a:t>k = 0.7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400" dirty="0"/>
              <a:t>q = 9.0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400" dirty="0"/>
              <a:t>Nc = </a:t>
            </a:r>
            <a:r>
              <a:rPr lang="en-US" sz="1400" dirty="0" err="1"/>
              <a:t>mesh.num_cells</a:t>
            </a:r>
            <a:r>
              <a:rPr lang="en-US" sz="1400" dirty="0"/>
              <a:t>()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400" dirty="0"/>
              <a:t>NN = </a:t>
            </a:r>
            <a:r>
              <a:rPr lang="en-US" sz="1400" dirty="0" err="1"/>
              <a:t>mesh.num_vertices</a:t>
            </a:r>
            <a:r>
              <a:rPr lang="en-US" sz="1400" dirty="0"/>
              <a:t>()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400" dirty="0"/>
              <a:t>AA = </a:t>
            </a:r>
            <a:r>
              <a:rPr lang="en-US" sz="1400" dirty="0" err="1"/>
              <a:t>numpy.zeros</a:t>
            </a:r>
            <a:r>
              <a:rPr lang="en-US" sz="1400" dirty="0"/>
              <a:t>((NN , NN)) 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400" dirty="0"/>
              <a:t>for ci in range(Nc):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400" dirty="0"/>
              <a:t>  cell = Cell(mesh, ci)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sz="1400" dirty="0"/>
              <a:t>  vertices = </a:t>
            </a:r>
            <a:r>
              <a:rPr lang="en-US" sz="1400" dirty="0" err="1"/>
              <a:t>cell.entities</a:t>
            </a:r>
            <a:r>
              <a:rPr lang="en-US" sz="1400" dirty="0"/>
              <a:t> (0)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sz="1400" dirty="0"/>
              <a:t>  vert0 = Vertex(mesh, vertices [0])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sz="1400" dirty="0"/>
              <a:t>  vert1 = Vertex(mesh, vertices [1])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sz="1400" dirty="0"/>
              <a:t>  h = abs(vert0.point().x() - vert1.point().x())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sz="1400" dirty="0"/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/>
              <a:t>  </a:t>
            </a:r>
            <a:endParaRPr lang="ru-RU" sz="1600" dirty="0"/>
          </a:p>
        </p:txBody>
      </p:sp>
      <p:sp>
        <p:nvSpPr>
          <p:cNvPr id="4" name="Объект 2">
            <a:extLst>
              <a:ext uri="{FF2B5EF4-FFF2-40B4-BE49-F238E27FC236}">
                <a16:creationId xmlns:a16="http://schemas.microsoft.com/office/drawing/2014/main" id="{05060231-DDB6-4657-994B-DE2DB0912596}"/>
              </a:ext>
            </a:extLst>
          </p:cNvPr>
          <p:cNvSpPr txBox="1">
            <a:spLocks/>
          </p:cNvSpPr>
          <p:nvPr/>
        </p:nvSpPr>
        <p:spPr>
          <a:xfrm>
            <a:off x="6096000" y="2093975"/>
            <a:ext cx="5038344" cy="427939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>
            <a:lvl1pPr marL="18288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sz="1400" dirty="0"/>
              <a:t>  dof0 = vertices [0]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sz="1400" dirty="0"/>
              <a:t>  dof1 = vertices [1]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sz="1400" dirty="0"/>
              <a:t>  AA[dof0][dof0] += 1.0 / h * k + h / 6 * 2 * q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sz="1400" dirty="0"/>
              <a:t>  AA[dof1][dof0] += -1.0/ h * k + h/6*q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sz="1400" dirty="0"/>
              <a:t>  AA[dof0][dof1] += -1.0/ h * k + h/6*q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sz="1400" dirty="0"/>
              <a:t>  AA[dof1][dof1] += 1.0 / h * k + h / 6 * 2 * q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sz="1400" dirty="0"/>
              <a:t>print(AA)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sz="1400" dirty="0"/>
              <a:t>print() 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sz="1400" dirty="0"/>
              <a:t>u = </a:t>
            </a:r>
            <a:r>
              <a:rPr lang="en-US" sz="1400" dirty="0" err="1"/>
              <a:t>TrialFunction</a:t>
            </a:r>
            <a:r>
              <a:rPr lang="en-US" sz="1400" dirty="0"/>
              <a:t>(V)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sz="1400" dirty="0"/>
              <a:t>v = </a:t>
            </a:r>
            <a:r>
              <a:rPr lang="en-US" sz="1400" dirty="0" err="1"/>
              <a:t>TestFunction</a:t>
            </a:r>
            <a:r>
              <a:rPr lang="en-US" sz="1400" dirty="0"/>
              <a:t>(V)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sz="1400" dirty="0"/>
              <a:t>kk = Constant(k)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sz="1400" dirty="0" err="1"/>
              <a:t>qq</a:t>
            </a:r>
            <a:r>
              <a:rPr lang="en-US" sz="1400" dirty="0"/>
              <a:t> = Constant(q)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sz="1400" dirty="0"/>
              <a:t>a = inner(kk * grad(u), grad(v)) * dx + </a:t>
            </a:r>
            <a:r>
              <a:rPr lang="en-US" sz="1400" dirty="0" err="1"/>
              <a:t>qq</a:t>
            </a:r>
            <a:r>
              <a:rPr lang="en-US" sz="1400" dirty="0"/>
              <a:t> * u * v * dx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sz="1400" dirty="0"/>
              <a:t>A = Matrix()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sz="1400" dirty="0"/>
              <a:t>assemble(a, A)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sz="1400" dirty="0"/>
              <a:t>print(</a:t>
            </a:r>
            <a:r>
              <a:rPr lang="en-US" sz="1400" dirty="0" err="1"/>
              <a:t>A.array</a:t>
            </a:r>
            <a:r>
              <a:rPr lang="en-US" sz="1400" dirty="0"/>
              <a:t>()) </a:t>
            </a:r>
            <a:endParaRPr lang="ru-RU" sz="1400" dirty="0"/>
          </a:p>
        </p:txBody>
      </p:sp>
    </p:spTree>
    <p:extLst>
      <p:ext uri="{BB962C8B-B14F-4D97-AF65-F5344CB8AC3E}">
        <p14:creationId xmlns:p14="http://schemas.microsoft.com/office/powerpoint/2010/main" val="3724598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5A55CFD-66DE-487C-80DE-2B0742FC18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Построение матрицы </a:t>
            </a:r>
            <a:r>
              <a:rPr lang="ru-RU" dirty="0" err="1"/>
              <a:t>кэ</a:t>
            </a:r>
            <a:r>
              <a:rPr lang="ru-RU" dirty="0"/>
              <a:t> для одномерного случая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B315426-518B-42C3-AE07-5BBDC6ECE1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9848" y="2121408"/>
            <a:ext cx="10207751" cy="4050792"/>
          </a:xfrm>
        </p:spPr>
        <p:txBody>
          <a:bodyPr>
            <a:noAutofit/>
          </a:bodyPr>
          <a:lstStyle/>
          <a:p>
            <a:pPr marL="274320" lvl="1" indent="0">
              <a:buNone/>
            </a:pPr>
            <a:endParaRPr lang="ru-RU" sz="2000" dirty="0"/>
          </a:p>
          <a:p>
            <a:pPr marL="274320" lvl="1" indent="0" algn="ctr">
              <a:buNone/>
            </a:pPr>
            <a:r>
              <a:rPr lang="ru-RU" sz="2000" dirty="0"/>
              <a:t> </a:t>
            </a:r>
            <a:endParaRPr lang="en-US" sz="2000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7B656BAB-E36D-42F6-BD69-9BF6451389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2588" y="2339435"/>
            <a:ext cx="4246823" cy="3614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78863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5A55CFD-66DE-487C-80DE-2B0742FC18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Построение матрицы </a:t>
            </a:r>
            <a:r>
              <a:rPr lang="ru-RU" dirty="0" err="1"/>
              <a:t>кэ</a:t>
            </a:r>
            <a:r>
              <a:rPr lang="ru-RU" dirty="0"/>
              <a:t> для двумерного случая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0B315426-518B-42C3-AE07-5BBDC6ECE1D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69848" y="2121408"/>
                <a:ext cx="10207751" cy="4050792"/>
              </a:xfrm>
            </p:spPr>
            <p:txBody>
              <a:bodyPr>
                <a:noAutofit/>
              </a:bodyPr>
              <a:lstStyle/>
              <a:p>
                <a:pPr marL="274320" lvl="1" indent="0">
                  <a:buNone/>
                </a:pPr>
                <a:r>
                  <a:rPr lang="ru-RU" sz="2000" dirty="0"/>
                  <a:t>Для построения двумерной матрицы будем использовать следующие линейные функции:</a:t>
                </a:r>
              </a:p>
              <a:p>
                <a:pPr marL="27432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ru-RU" sz="20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ru-RU" sz="200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sz="2000" b="0" i="1" smtClean="0">
                                      <a:latin typeface="Cambria Math" panose="02040503050406030204" pitchFamily="18" charset="0"/>
                                    </a:rPr>
                                    <m:t>𝜆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𝛿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sz="2000" i="1">
                                      <a:latin typeface="Cambria Math" panose="02040503050406030204" pitchFamily="18" charset="0"/>
                                    </a:rPr>
                                    <m:t>𝜆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𝛿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sz="2000" i="1">
                                      <a:latin typeface="Cambria Math" panose="02040503050406030204" pitchFamily="18" charset="0"/>
                                    </a:rPr>
                                    <m:t>𝜆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𝛿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e>
                          </m:eqArr>
                        </m:e>
                      </m:d>
                    </m:oMath>
                  </m:oMathPara>
                </a14:m>
                <a:endParaRPr lang="en-US" sz="2000" b="0" dirty="0"/>
              </a:p>
              <a:p>
                <a:pPr marL="274320" lvl="1" indent="0">
                  <a:buNone/>
                </a:pPr>
                <a:r>
                  <a:rPr lang="ru-RU" sz="2000" dirty="0"/>
                  <a:t>Пусть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=1,2,3</m:t>
                    </m:r>
                  </m:oMath>
                </a14:m>
                <a:r>
                  <a:rPr lang="en-US" sz="2000" dirty="0"/>
                  <a:t> – </a:t>
                </a:r>
                <a:r>
                  <a:rPr lang="ru-RU" sz="2000" dirty="0"/>
                  <a:t>три вершины треугольника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∪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sup>
                    </m:sSubSup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000" dirty="0"/>
                  <a:t> </a:t>
                </a:r>
                <a:r>
                  <a:rPr lang="ru-RU" sz="2000" dirty="0"/>
                  <a:t>для некоторой произвольной точки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000" dirty="0"/>
                  <a:t> </a:t>
                </a:r>
                <a:r>
                  <a:rPr lang="ru-RU" sz="2000" dirty="0"/>
                  <a:t>внутри треугольника, тогда площади треугольников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ru-RU" sz="2000" dirty="0"/>
                  <a:t> вычисляются следующим образом:</a:t>
                </a:r>
              </a:p>
              <a:p>
                <a:pPr marL="27432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d>
                        <m:dPr>
                          <m:begChr m:val="|"/>
                          <m:endChr m:val="|"/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𝑑𝑒𝑡</m:t>
                          </m:r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US" sz="2000" b="0" dirty="0"/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0B315426-518B-42C3-AE07-5BBDC6ECE1D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69848" y="2121408"/>
                <a:ext cx="10207751" cy="4050792"/>
              </a:xfrm>
              <a:blipFill>
                <a:blip r:embed="rId2"/>
                <a:stretch>
                  <a:fillRect t="-165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703668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5A55CFD-66DE-487C-80DE-2B0742FC18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Построение матрицы </a:t>
            </a:r>
            <a:r>
              <a:rPr lang="ru-RU" dirty="0" err="1"/>
              <a:t>кэ</a:t>
            </a:r>
            <a:r>
              <a:rPr lang="ru-RU" dirty="0"/>
              <a:t> для двумерного случая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0B315426-518B-42C3-AE07-5BBDC6ECE1D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69848" y="2121408"/>
                <a:ext cx="10207751" cy="4050792"/>
              </a:xfrm>
            </p:spPr>
            <p:txBody>
              <a:bodyPr>
                <a:noAutofit/>
              </a:bodyPr>
              <a:lstStyle/>
              <a:p>
                <a:pPr marL="274320" lvl="1" indent="0">
                  <a:buNone/>
                </a:pPr>
                <a:r>
                  <a:rPr lang="ru-RU" sz="2000" dirty="0"/>
                  <a:t>Здесь</a:t>
                </a:r>
              </a:p>
              <a:p>
                <a:pPr marL="274320" lvl="1" indent="0">
                  <a:buNone/>
                </a:pPr>
                <a:endParaRPr lang="ru-RU" sz="2000" dirty="0"/>
              </a:p>
              <a:p>
                <a:pPr marL="274320" lvl="1" indent="0">
                  <a:buNone/>
                </a:pPr>
                <a:endParaRPr lang="ru-RU" sz="2000" dirty="0"/>
              </a:p>
              <a:p>
                <a:pPr marL="274320" lvl="1" indent="0">
                  <a:buNone/>
                </a:pPr>
                <a:endParaRPr lang="ru-RU" sz="2000" dirty="0"/>
              </a:p>
              <a:p>
                <a:pPr marL="274320" lvl="1" indent="0">
                  <a:buNone/>
                </a:pPr>
                <a:r>
                  <a:rPr lang="ru-RU" sz="2000" dirty="0"/>
                  <a:t>Таким образом </a:t>
                </a:r>
                <a:endParaRPr lang="en-US" sz="2000" dirty="0"/>
              </a:p>
              <a:p>
                <a:pPr marL="274320" lvl="1" indent="0" algn="ctr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begChr m:val="|"/>
                            <m:endChr m:val="|"/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b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</m:e>
                        </m:d>
                      </m:num>
                      <m:den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|</m:t>
                        </m:r>
                      </m:den>
                    </m:f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endChr m:val="|"/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func>
                              <m:funcPr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sz="2000" b="0" i="0" smtClean="0">
                                    <a:latin typeface="Cambria Math" panose="02040503050406030204" pitchFamily="18" charset="0"/>
                                  </a:rPr>
                                  <m:t>det</m:t>
                                </m:r>
                              </m:fName>
                              <m:e>
                                <m:sSub>
                                  <m:sSubPr>
                                    <m:ctrlP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d>
                              </m:e>
                            </m:func>
                          </m:num>
                          <m:den>
                            <m:func>
                              <m:funcPr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sz="2000" b="0" i="0" smtClean="0">
                                    <a:latin typeface="Cambria Math" panose="02040503050406030204" pitchFamily="18" charset="0"/>
                                  </a:rPr>
                                  <m:t>det</m:t>
                                </m:r>
                              </m:fName>
                              <m:e>
                                <m:d>
                                  <m:dPr>
                                    <m:ctrlP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</m:d>
                              </m:e>
                            </m:func>
                          </m:den>
                        </m:f>
                      </m:e>
                    </m:d>
                  </m:oMath>
                </a14:m>
                <a:r>
                  <a:rPr lang="en-US" sz="2000" dirty="0"/>
                  <a:t>,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=1,2,3,.</m:t>
                    </m:r>
                  </m:oMath>
                </a14:m>
                <a:endParaRPr lang="ru-RU" sz="2000" dirty="0"/>
              </a:p>
              <a:p>
                <a:pPr marL="274320" lvl="1" indent="0">
                  <a:buNone/>
                </a:pPr>
                <a:r>
                  <a:rPr lang="ru-RU" sz="2000" dirty="0"/>
                  <a:t>Базисные функции и решение на отрезке выглядят следующим образом:</a:t>
                </a:r>
              </a:p>
              <a:p>
                <a:pPr marL="27432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0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000" i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sz="2000" b="0" i="1" smtClean="0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2000" i="1" dirty="0">
                  <a:latin typeface="Cambria Math" panose="02040503050406030204" pitchFamily="18" charset="0"/>
                </a:endParaRPr>
              </a:p>
              <a:p>
                <a:pPr marL="27432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sub>
                      </m:sSub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0B315426-518B-42C3-AE07-5BBDC6ECE1D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69848" y="2121408"/>
                <a:ext cx="10207751" cy="4050792"/>
              </a:xfrm>
              <a:blipFill>
                <a:blip r:embed="rId3"/>
                <a:stretch>
                  <a:fillRect t="-165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940215FE-B8B4-45AA-B929-CC9873EDA2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36196" y="2277076"/>
            <a:ext cx="5919607" cy="11519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2257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5A55CFD-66DE-487C-80DE-2B0742FC18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Построение матрицы </a:t>
            </a:r>
            <a:r>
              <a:rPr lang="ru-RU" dirty="0" err="1"/>
              <a:t>кэ</a:t>
            </a:r>
            <a:r>
              <a:rPr lang="ru-RU" dirty="0"/>
              <a:t> для двумерного случая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0B315426-518B-42C3-AE07-5BBDC6ECE1D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69848" y="2121408"/>
                <a:ext cx="10207751" cy="4050792"/>
              </a:xfrm>
            </p:spPr>
            <p:txBody>
              <a:bodyPr>
                <a:normAutofit/>
              </a:bodyPr>
              <a:lstStyle/>
              <a:p>
                <a:pPr marL="274320" lvl="1" indent="0">
                  <a:buNone/>
                </a:pPr>
                <a:r>
                  <a:rPr lang="ru-RU" dirty="0"/>
                  <a:t>Построим матрицы для следующей задачи</a:t>
                </a:r>
              </a:p>
              <a:p>
                <a:pPr marL="27432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∇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∙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∇u</m:t>
                          </m:r>
                        </m:e>
                      </m:d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f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,    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∈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0,1</m:t>
                          </m:r>
                        </m:e>
                      </m:d>
                    </m:oMath>
                  </m:oMathPara>
                </a14:m>
                <a:endParaRPr lang="en-US" b="0" dirty="0"/>
              </a:p>
              <a:p>
                <a:pPr marL="274320" lvl="1" indent="0">
                  <a:buNone/>
                </a:pPr>
                <a:r>
                  <a:rPr lang="ru-RU" dirty="0"/>
                  <a:t>Вариационная постановка данной задачи выглядит следующим образом:</a:t>
                </a:r>
              </a:p>
              <a:p>
                <a:pPr marL="274320" lvl="1" indent="0">
                  <a:buNone/>
                </a:pPr>
                <a:r>
                  <a:rPr lang="ru-RU" dirty="0"/>
                  <a:t>	Найти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dirty="0"/>
                  <a:t> </a:t>
                </a:r>
                <a:r>
                  <a:rPr lang="ru-RU" dirty="0"/>
                  <a:t>такую что</a:t>
                </a:r>
              </a:p>
              <a:p>
                <a:pPr marL="27432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𝑎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𝐿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   ∀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en-US" b="0" dirty="0"/>
              </a:p>
              <a:p>
                <a:pPr marL="274320" lvl="1" indent="0">
                  <a:buNone/>
                </a:pPr>
                <a:r>
                  <a:rPr lang="ru-RU" dirty="0"/>
                  <a:t>где</a:t>
                </a:r>
              </a:p>
              <a:p>
                <a:pPr marL="27432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𝑎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limLoc m:val="undOvr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4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∇u∇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𝑣𝑑𝑥</m:t>
                          </m:r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 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𝐿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limLoc m:val="undOvr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4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</m:oMath>
                  </m:oMathPara>
                </a14:m>
                <a:endParaRPr lang="ru-RU" dirty="0"/>
              </a:p>
              <a:p>
                <a:pPr marL="274320" lvl="1" indent="0">
                  <a:buNone/>
                </a:pPr>
                <a:r>
                  <a:rPr lang="ru-RU" dirty="0"/>
                  <a:t>Далее представим исходный код вычислительной задачи на языке </a:t>
                </a:r>
                <a:r>
                  <a:rPr lang="en-US" dirty="0"/>
                  <a:t>Python</a:t>
                </a:r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0B315426-518B-42C3-AE07-5BBDC6ECE1D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69848" y="2121408"/>
                <a:ext cx="10207751" cy="4050792"/>
              </a:xfrm>
              <a:blipFill>
                <a:blip r:embed="rId2"/>
                <a:stretch>
                  <a:fillRect t="-150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7C8FCC86-53DD-4D3B-9781-397ED33D42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52309" y="2121408"/>
            <a:ext cx="2495550" cy="2428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71117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5A55CFD-66DE-487C-80DE-2B0742FC18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Построение матрицы </a:t>
            </a:r>
            <a:r>
              <a:rPr lang="ru-RU" dirty="0" err="1"/>
              <a:t>кэ</a:t>
            </a:r>
            <a:r>
              <a:rPr lang="ru-RU" dirty="0"/>
              <a:t> для двумерного случая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B315426-518B-42C3-AE07-5BBDC6ECE1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8743" y="2093976"/>
            <a:ext cx="5529553" cy="4499328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dirty="0"/>
              <a:t>from </a:t>
            </a:r>
            <a:r>
              <a:rPr lang="en-US" sz="1400" dirty="0" err="1"/>
              <a:t>dolfin</a:t>
            </a:r>
            <a:r>
              <a:rPr lang="en-US" sz="1400" dirty="0"/>
              <a:t> import *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dirty="0"/>
              <a:t>import </a:t>
            </a:r>
            <a:r>
              <a:rPr lang="en-US" sz="1400" dirty="0" err="1"/>
              <a:t>numpy</a:t>
            </a:r>
            <a:endParaRPr lang="en-US" sz="14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dirty="0"/>
              <a:t>parameters["</a:t>
            </a:r>
            <a:r>
              <a:rPr lang="en-US" sz="1400" dirty="0" err="1"/>
              <a:t>reorder_dofs_serial</a:t>
            </a:r>
            <a:r>
              <a:rPr lang="en-US" sz="1400" dirty="0"/>
              <a:t>"] = False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dirty="0"/>
              <a:t>N = 2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dirty="0"/>
              <a:t>mesh = </a:t>
            </a:r>
            <a:r>
              <a:rPr lang="en-US" sz="1400" dirty="0" err="1"/>
              <a:t>UnitIntervalMesh</a:t>
            </a:r>
            <a:r>
              <a:rPr lang="en-US" sz="1400" dirty="0"/>
              <a:t>(N)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dirty="0"/>
              <a:t>k = 0.7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dirty="0"/>
              <a:t>Nc = </a:t>
            </a:r>
            <a:r>
              <a:rPr lang="en-US" sz="1400" dirty="0" err="1"/>
              <a:t>mesh.num_cells</a:t>
            </a:r>
            <a:r>
              <a:rPr lang="en-US" sz="1400" dirty="0"/>
              <a:t>()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dirty="0"/>
              <a:t>NN = </a:t>
            </a:r>
            <a:r>
              <a:rPr lang="en-US" sz="1400" dirty="0" err="1"/>
              <a:t>mesh.num_vertices</a:t>
            </a:r>
            <a:r>
              <a:rPr lang="en-US" sz="1400" dirty="0"/>
              <a:t>()</a:t>
            </a:r>
            <a:endParaRPr lang="ru-RU" sz="14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dirty="0"/>
              <a:t>def determinant (aa):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dirty="0" err="1"/>
              <a:t>deta</a:t>
            </a:r>
            <a:r>
              <a:rPr lang="en-US" sz="1400" dirty="0"/>
              <a:t> = aa [0][0]*( aa [1][1]*aa [2][2] − aa [1][2]*aa [2][1]) \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dirty="0"/>
              <a:t>	− aa [0][1]*( aa [1][0]*aa [2][2] − aa [1][2]*aa [2][1]) \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dirty="0"/>
              <a:t>	+ aa [0][2]*( aa [1][0]*aa [2][1] − aa [1][1]*aa [2][0])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dirty="0"/>
              <a:t>return abs(</a:t>
            </a:r>
            <a:r>
              <a:rPr lang="en-US" sz="1400" dirty="0" err="1"/>
              <a:t>deta</a:t>
            </a:r>
            <a:r>
              <a:rPr lang="en-US" sz="1400" dirty="0"/>
              <a:t>)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sz="1400" dirty="0"/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/>
              <a:t>  </a:t>
            </a:r>
            <a:endParaRPr lang="ru-RU" sz="1600" dirty="0"/>
          </a:p>
        </p:txBody>
      </p:sp>
      <p:sp>
        <p:nvSpPr>
          <p:cNvPr id="4" name="Объект 2">
            <a:extLst>
              <a:ext uri="{FF2B5EF4-FFF2-40B4-BE49-F238E27FC236}">
                <a16:creationId xmlns:a16="http://schemas.microsoft.com/office/drawing/2014/main" id="{05060231-DDB6-4657-994B-DE2DB0912596}"/>
              </a:ext>
            </a:extLst>
          </p:cNvPr>
          <p:cNvSpPr txBox="1">
            <a:spLocks/>
          </p:cNvSpPr>
          <p:nvPr/>
        </p:nvSpPr>
        <p:spPr>
          <a:xfrm>
            <a:off x="6481013" y="2093977"/>
            <a:ext cx="5038344" cy="449932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>
            <a:lvl1pPr marL="18288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sz="1400" dirty="0"/>
              <a:t>def </a:t>
            </a:r>
            <a:r>
              <a:rPr lang="en-US" sz="1400" dirty="0" err="1"/>
              <a:t>determinantX</a:t>
            </a:r>
            <a:r>
              <a:rPr lang="en-US" sz="1400" dirty="0"/>
              <a:t>(aa , </a:t>
            </a:r>
            <a:r>
              <a:rPr lang="en-US" sz="1400" dirty="0" err="1"/>
              <a:t>ind</a:t>
            </a:r>
            <a:r>
              <a:rPr lang="en-US" sz="1400" dirty="0"/>
              <a:t> ):</a:t>
            </a:r>
          </a:p>
          <a:p>
            <a:pPr marL="274320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dirty="0" err="1"/>
              <a:t>deta</a:t>
            </a:r>
            <a:r>
              <a:rPr lang="en-US" sz="1400" dirty="0"/>
              <a:t> = 0</a:t>
            </a:r>
          </a:p>
          <a:p>
            <a:pPr marL="274320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dirty="0"/>
              <a:t>if </a:t>
            </a:r>
            <a:r>
              <a:rPr lang="en-US" sz="1400" dirty="0" err="1"/>
              <a:t>ind</a:t>
            </a:r>
            <a:r>
              <a:rPr lang="en-US" sz="1400" dirty="0"/>
              <a:t> == 0:</a:t>
            </a:r>
          </a:p>
          <a:p>
            <a:pPr marL="274320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dirty="0"/>
              <a:t>	</a:t>
            </a:r>
            <a:r>
              <a:rPr lang="en-US" sz="1400" dirty="0" err="1"/>
              <a:t>deta</a:t>
            </a:r>
            <a:r>
              <a:rPr lang="en-US" sz="1400" dirty="0"/>
              <a:t> = aa [2][2] − aa [1][2]</a:t>
            </a:r>
          </a:p>
          <a:p>
            <a:pPr marL="274320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dirty="0"/>
              <a:t>if </a:t>
            </a:r>
            <a:r>
              <a:rPr lang="en-US" sz="1400" dirty="0" err="1"/>
              <a:t>ind</a:t>
            </a:r>
            <a:r>
              <a:rPr lang="en-US" sz="1400" dirty="0"/>
              <a:t> == 1:</a:t>
            </a:r>
          </a:p>
          <a:p>
            <a:pPr marL="274320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dirty="0"/>
              <a:t>	</a:t>
            </a:r>
            <a:r>
              <a:rPr lang="en-US" sz="1400" dirty="0" err="1"/>
              <a:t>deta</a:t>
            </a:r>
            <a:r>
              <a:rPr lang="en-US" sz="1400" dirty="0"/>
              <a:t> = aa [0][2] − aa [2][2]</a:t>
            </a:r>
          </a:p>
          <a:p>
            <a:pPr marL="274320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dirty="0"/>
              <a:t>if </a:t>
            </a:r>
            <a:r>
              <a:rPr lang="en-US" sz="1400" dirty="0" err="1"/>
              <a:t>ind</a:t>
            </a:r>
            <a:r>
              <a:rPr lang="en-US" sz="1400" dirty="0"/>
              <a:t> == 2:</a:t>
            </a:r>
          </a:p>
          <a:p>
            <a:pPr marL="274320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dirty="0"/>
              <a:t>	</a:t>
            </a:r>
            <a:r>
              <a:rPr lang="en-US" sz="1400" dirty="0" err="1"/>
              <a:t>deta</a:t>
            </a:r>
            <a:r>
              <a:rPr lang="en-US" sz="1400" dirty="0"/>
              <a:t> = aa [1][2] − aa [0][2]</a:t>
            </a:r>
          </a:p>
          <a:p>
            <a:pPr marL="274320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dirty="0"/>
              <a:t>return −</a:t>
            </a:r>
            <a:r>
              <a:rPr lang="en-US" sz="1400" dirty="0" err="1"/>
              <a:t>deta</a:t>
            </a:r>
            <a:endParaRPr lang="en-US" sz="14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sz="1400" dirty="0"/>
              <a:t>def </a:t>
            </a:r>
            <a:r>
              <a:rPr lang="en-US" sz="1400" dirty="0" err="1"/>
              <a:t>determinantY</a:t>
            </a:r>
            <a:r>
              <a:rPr lang="en-US" sz="1400" dirty="0"/>
              <a:t>(aa , </a:t>
            </a:r>
            <a:r>
              <a:rPr lang="en-US" sz="1400" dirty="0" err="1"/>
              <a:t>ind</a:t>
            </a:r>
            <a:r>
              <a:rPr lang="en-US" sz="1400" dirty="0"/>
              <a:t> ):</a:t>
            </a:r>
          </a:p>
          <a:p>
            <a:pPr marL="274320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dirty="0" err="1"/>
              <a:t>deta</a:t>
            </a:r>
            <a:r>
              <a:rPr lang="en-US" sz="1400" dirty="0"/>
              <a:t> = 0</a:t>
            </a:r>
          </a:p>
          <a:p>
            <a:pPr marL="274320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dirty="0"/>
              <a:t>if </a:t>
            </a:r>
            <a:r>
              <a:rPr lang="en-US" sz="1400" dirty="0" err="1"/>
              <a:t>ind</a:t>
            </a:r>
            <a:r>
              <a:rPr lang="en-US" sz="1400" dirty="0"/>
              <a:t> == 0:</a:t>
            </a:r>
          </a:p>
          <a:p>
            <a:pPr marL="274320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dirty="0"/>
              <a:t>	</a:t>
            </a:r>
            <a:r>
              <a:rPr lang="en-US" sz="1400" dirty="0" err="1"/>
              <a:t>deta</a:t>
            </a:r>
            <a:r>
              <a:rPr lang="en-US" sz="1400" dirty="0"/>
              <a:t> = aa [2][1] − aa [1][1]</a:t>
            </a:r>
          </a:p>
          <a:p>
            <a:pPr marL="274320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dirty="0"/>
              <a:t>if </a:t>
            </a:r>
            <a:r>
              <a:rPr lang="en-US" sz="1400" dirty="0" err="1"/>
              <a:t>ind</a:t>
            </a:r>
            <a:r>
              <a:rPr lang="en-US" sz="1400" dirty="0"/>
              <a:t> == 1:</a:t>
            </a:r>
          </a:p>
          <a:p>
            <a:pPr marL="274320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dirty="0"/>
              <a:t>	</a:t>
            </a:r>
            <a:r>
              <a:rPr lang="en-US" sz="1400" dirty="0" err="1"/>
              <a:t>deta</a:t>
            </a:r>
            <a:r>
              <a:rPr lang="en-US" sz="1400" dirty="0"/>
              <a:t> = aa [0][1] − aa [2][1]</a:t>
            </a:r>
          </a:p>
          <a:p>
            <a:pPr marL="274320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dirty="0"/>
              <a:t>if </a:t>
            </a:r>
            <a:r>
              <a:rPr lang="en-US" sz="1400" dirty="0" err="1"/>
              <a:t>ind</a:t>
            </a:r>
            <a:r>
              <a:rPr lang="en-US" sz="1400" dirty="0"/>
              <a:t> == 2:</a:t>
            </a:r>
          </a:p>
          <a:p>
            <a:pPr marL="274320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dirty="0"/>
              <a:t>	</a:t>
            </a:r>
            <a:r>
              <a:rPr lang="en-US" sz="1400" dirty="0" err="1"/>
              <a:t>deta</a:t>
            </a:r>
            <a:r>
              <a:rPr lang="en-US" sz="1400" dirty="0"/>
              <a:t> = aa [1][1] − aa [0][1]</a:t>
            </a:r>
          </a:p>
          <a:p>
            <a:pPr marL="274320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dirty="0"/>
              <a:t>return </a:t>
            </a:r>
            <a:r>
              <a:rPr lang="en-US" sz="1400" dirty="0" err="1"/>
              <a:t>deta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9061605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5A55CFD-66DE-487C-80DE-2B0742FC18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Построение матрицы </a:t>
            </a:r>
            <a:r>
              <a:rPr lang="ru-RU" dirty="0" err="1"/>
              <a:t>кэ</a:t>
            </a:r>
            <a:r>
              <a:rPr lang="ru-RU" dirty="0"/>
              <a:t> для двумерного случая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B315426-518B-42C3-AE07-5BBDC6ECE1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6027" y="2093976"/>
            <a:ext cx="5032245" cy="4499328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1400" dirty="0"/>
              <a:t>AA = numpy.zeros ((NN , NN))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dirty="0"/>
              <a:t>for ci in range(Nc):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dirty="0"/>
              <a:t>	cell = Cell(mesh , ci)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dirty="0"/>
              <a:t>  	vertices = </a:t>
            </a:r>
            <a:r>
              <a:rPr lang="en-US" sz="1400" dirty="0" err="1"/>
              <a:t>cell.entities</a:t>
            </a:r>
            <a:r>
              <a:rPr lang="en-US" sz="1400" dirty="0"/>
              <a:t> (0)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dirty="0"/>
              <a:t>	</a:t>
            </a:r>
            <a:r>
              <a:rPr lang="en-US" sz="1400" dirty="0" err="1"/>
              <a:t>nloc</a:t>
            </a:r>
            <a:r>
              <a:rPr lang="en-US" sz="1400" dirty="0"/>
              <a:t> = 3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dirty="0"/>
              <a:t>	aa = </a:t>
            </a:r>
            <a:r>
              <a:rPr lang="en-US" sz="1400" dirty="0" err="1"/>
              <a:t>numpy.zeros</a:t>
            </a:r>
            <a:r>
              <a:rPr lang="en-US" sz="1400" dirty="0"/>
              <a:t>((</a:t>
            </a:r>
            <a:r>
              <a:rPr lang="en-US" sz="1400" dirty="0" err="1"/>
              <a:t>nloc</a:t>
            </a:r>
            <a:r>
              <a:rPr lang="en-US" sz="1400" dirty="0"/>
              <a:t> , </a:t>
            </a:r>
            <a:r>
              <a:rPr lang="en-US" sz="1400" dirty="0" err="1"/>
              <a:t>nloc</a:t>
            </a:r>
            <a:r>
              <a:rPr lang="en-US" sz="1400" dirty="0"/>
              <a:t> ))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dirty="0"/>
              <a:t>	for j in range(</a:t>
            </a:r>
            <a:r>
              <a:rPr lang="en-US" sz="1400" dirty="0" err="1"/>
              <a:t>nloc</a:t>
            </a:r>
            <a:r>
              <a:rPr lang="en-US" sz="1400" dirty="0"/>
              <a:t>):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dirty="0"/>
              <a:t>		vertex = Vertex(mesh , vertices[j])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dirty="0"/>
              <a:t>		aa[j][0] = 1.0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dirty="0"/>
              <a:t>		aa[j][1] = </a:t>
            </a:r>
            <a:r>
              <a:rPr lang="en-US" sz="1400" dirty="0" err="1"/>
              <a:t>vertex.point</a:t>
            </a:r>
            <a:r>
              <a:rPr lang="en-US" sz="1400" dirty="0"/>
              <a:t> ().x()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dirty="0"/>
              <a:t>		aa[j][2] = </a:t>
            </a:r>
            <a:r>
              <a:rPr lang="en-US" sz="1400" dirty="0" err="1"/>
              <a:t>vertex.point</a:t>
            </a:r>
            <a:r>
              <a:rPr lang="en-US" sz="1400" dirty="0"/>
              <a:t> ().y()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dirty="0"/>
              <a:t>	da = determinant (aa)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dirty="0"/>
              <a:t>	for j1 in range(</a:t>
            </a:r>
            <a:r>
              <a:rPr lang="en-US" sz="1400" dirty="0" err="1"/>
              <a:t>nloc</a:t>
            </a:r>
            <a:r>
              <a:rPr lang="en-US" sz="1400" dirty="0"/>
              <a:t>):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dirty="0"/>
              <a:t>		dof1 = vertices [j1]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dirty="0"/>
              <a:t>		dphidx1 = </a:t>
            </a:r>
            <a:r>
              <a:rPr lang="en-US" sz="1400" dirty="0" err="1"/>
              <a:t>determinantX</a:t>
            </a:r>
            <a:r>
              <a:rPr lang="en-US" sz="1400" dirty="0"/>
              <a:t> (aa, j1)/da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dirty="0"/>
              <a:t>		dphidy1 = </a:t>
            </a:r>
            <a:r>
              <a:rPr lang="en-US" sz="1400" dirty="0" err="1"/>
              <a:t>determinantY</a:t>
            </a:r>
            <a:r>
              <a:rPr lang="en-US" sz="1400" dirty="0"/>
              <a:t> (aa, j1)/da</a:t>
            </a:r>
            <a:endParaRPr lang="ru-RU" sz="1400" dirty="0"/>
          </a:p>
        </p:txBody>
      </p:sp>
      <p:sp>
        <p:nvSpPr>
          <p:cNvPr id="4" name="Объект 2">
            <a:extLst>
              <a:ext uri="{FF2B5EF4-FFF2-40B4-BE49-F238E27FC236}">
                <a16:creationId xmlns:a16="http://schemas.microsoft.com/office/drawing/2014/main" id="{05060231-DDB6-4657-994B-DE2DB0912596}"/>
              </a:ext>
            </a:extLst>
          </p:cNvPr>
          <p:cNvSpPr txBox="1">
            <a:spLocks/>
          </p:cNvSpPr>
          <p:nvPr/>
        </p:nvSpPr>
        <p:spPr>
          <a:xfrm>
            <a:off x="5764087" y="2093976"/>
            <a:ext cx="6283534" cy="449932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>
            <a:lvl1pPr marL="18288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sz="1400" dirty="0"/>
              <a:t>		for j2 in range(</a:t>
            </a:r>
            <a:r>
              <a:rPr lang="en-US" sz="1400" dirty="0" err="1"/>
              <a:t>nloc</a:t>
            </a:r>
            <a:r>
              <a:rPr lang="en-US" sz="1400" dirty="0"/>
              <a:t> ):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sz="1400" dirty="0"/>
              <a:t>			dof2 = vertices [j2]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sz="1400" dirty="0"/>
              <a:t>			dphidx2 = </a:t>
            </a:r>
            <a:r>
              <a:rPr lang="en-US" sz="1400" dirty="0" err="1"/>
              <a:t>determinantX</a:t>
            </a:r>
            <a:r>
              <a:rPr lang="en-US" sz="1400" dirty="0"/>
              <a:t> (aa , j2)/da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sz="1400" dirty="0"/>
              <a:t>			dphidy2 = </a:t>
            </a:r>
            <a:r>
              <a:rPr lang="en-US" sz="1400" dirty="0" err="1"/>
              <a:t>determinantY</a:t>
            </a:r>
            <a:r>
              <a:rPr lang="en-US" sz="1400" dirty="0"/>
              <a:t> (aa , j2)/da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sz="1400" dirty="0"/>
              <a:t>			AA[dof1 ][ dof2] += k*( dphidx1* dphidx2 \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sz="1400" dirty="0"/>
              <a:t>			+ dphidy1* dphidy2 )*( da /2)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sz="1400" dirty="0"/>
              <a:t>print("Our matrix\n")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sz="1400" dirty="0"/>
              <a:t>print(AA)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sz="1400" dirty="0"/>
              <a:t>V = </a:t>
            </a:r>
            <a:r>
              <a:rPr lang="en-US" sz="1400" dirty="0" err="1"/>
              <a:t>FunctionSpace</a:t>
            </a:r>
            <a:r>
              <a:rPr lang="en-US" sz="1400" dirty="0"/>
              <a:t> (mesh , "CG", 1)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sz="1400" dirty="0"/>
              <a:t>u = </a:t>
            </a:r>
            <a:r>
              <a:rPr lang="en-US" sz="1400" dirty="0" err="1"/>
              <a:t>TrialFunction</a:t>
            </a:r>
            <a:r>
              <a:rPr lang="en-US" sz="1400" dirty="0"/>
              <a:t> (V)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sz="1400" dirty="0"/>
              <a:t>v = </a:t>
            </a:r>
            <a:r>
              <a:rPr lang="en-US" sz="1400" dirty="0" err="1"/>
              <a:t>TestFunction</a:t>
            </a:r>
            <a:r>
              <a:rPr lang="en-US" sz="1400" dirty="0"/>
              <a:t> (V)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sz="1400" dirty="0"/>
              <a:t>kk = Constant (k)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sz="1400" dirty="0"/>
              <a:t>f = Constant (1.0)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sz="1400" dirty="0"/>
              <a:t>a = inner(kk * grad(u), grad(v))*dx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sz="1400" dirty="0"/>
              <a:t>L = f*v*dx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sz="1400" dirty="0"/>
              <a:t>A = Matrix ()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sz="1400" dirty="0"/>
              <a:t>assemble(a, A)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sz="1400" dirty="0"/>
              <a:t>b = Vector ()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sz="1400" dirty="0"/>
              <a:t>assemble(L, b)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sz="1400" dirty="0"/>
              <a:t>print("\</a:t>
            </a:r>
            <a:r>
              <a:rPr lang="en-US" sz="1400" dirty="0" err="1"/>
              <a:t>nFEniCS</a:t>
            </a:r>
            <a:r>
              <a:rPr lang="en-US" sz="1400" dirty="0"/>
              <a:t> matrix\n")</a:t>
            </a:r>
          </a:p>
        </p:txBody>
      </p:sp>
    </p:spTree>
    <p:extLst>
      <p:ext uri="{BB962C8B-B14F-4D97-AF65-F5344CB8AC3E}">
        <p14:creationId xmlns:p14="http://schemas.microsoft.com/office/powerpoint/2010/main" val="218581574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5A55CFD-66DE-487C-80DE-2B0742FC18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Построение матрицы </a:t>
            </a:r>
            <a:r>
              <a:rPr lang="ru-RU" dirty="0" err="1"/>
              <a:t>кэ</a:t>
            </a:r>
            <a:r>
              <a:rPr lang="ru-RU" dirty="0"/>
              <a:t> для двумерного случая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B315426-518B-42C3-AE07-5BBDC6ECE1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8742" y="2093976"/>
            <a:ext cx="5272878" cy="4499328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1400" dirty="0"/>
              <a:t>print(A.array ())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1400" dirty="0"/>
              <a:t>print("\nFEniCS vector b\n")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1400" dirty="0"/>
              <a:t>print(b. get_local ())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1400" dirty="0"/>
              <a:t>print("\nLeft boundary vertices\n")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1400" dirty="0"/>
              <a:t>for vi in range(NN):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1400" dirty="0"/>
              <a:t>	vertex = Vertex(mesh , vi)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1400" dirty="0"/>
              <a:t>	point = vertex.point ()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1400" dirty="0"/>
              <a:t>	x = point.x()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1400" dirty="0"/>
              <a:t>	y = point.y()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1400" dirty="0"/>
              <a:t>	if x &lt; DOLFIN_EPS :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1400" dirty="0"/>
              <a:t>		print("vi: %i, point(%g, %g)" % (vi , x, y))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1400" dirty="0"/>
              <a:t>def boundary(x):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1400" dirty="0"/>
              <a:t>	return x[0] &lt; DOLFIN_EPS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pt-BR" sz="14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dirty="0"/>
              <a:t>g = Constant (3.0)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dirty="0" err="1"/>
              <a:t>bc</a:t>
            </a:r>
            <a:r>
              <a:rPr lang="en-US" sz="1400" dirty="0"/>
              <a:t> = </a:t>
            </a:r>
            <a:r>
              <a:rPr lang="en-US" sz="1400" dirty="0" err="1"/>
              <a:t>DirichletBC</a:t>
            </a:r>
            <a:r>
              <a:rPr lang="en-US" sz="1400" dirty="0"/>
              <a:t> (V, g, boundary)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dirty="0" err="1"/>
              <a:t>bc.apply</a:t>
            </a:r>
            <a:r>
              <a:rPr lang="en-US" sz="1400" dirty="0"/>
              <a:t>(A)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dirty="0" err="1"/>
              <a:t>bc.apply</a:t>
            </a:r>
            <a:r>
              <a:rPr lang="en-US" sz="1400" dirty="0"/>
              <a:t>(b)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ru-RU" sz="1400" dirty="0"/>
          </a:p>
        </p:txBody>
      </p:sp>
      <p:sp>
        <p:nvSpPr>
          <p:cNvPr id="4" name="Объект 2">
            <a:extLst>
              <a:ext uri="{FF2B5EF4-FFF2-40B4-BE49-F238E27FC236}">
                <a16:creationId xmlns:a16="http://schemas.microsoft.com/office/drawing/2014/main" id="{05060231-DDB6-4657-994B-DE2DB0912596}"/>
              </a:ext>
            </a:extLst>
          </p:cNvPr>
          <p:cNvSpPr txBox="1">
            <a:spLocks/>
          </p:cNvSpPr>
          <p:nvPr/>
        </p:nvSpPr>
        <p:spPr>
          <a:xfrm>
            <a:off x="6646403" y="2093976"/>
            <a:ext cx="5128502" cy="449932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>
            <a:lvl1pPr marL="18288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sz="1400" dirty="0"/>
              <a:t>print("\</a:t>
            </a:r>
            <a:r>
              <a:rPr lang="en-US" sz="1400" dirty="0" err="1"/>
              <a:t>nFEniCS</a:t>
            </a:r>
            <a:r>
              <a:rPr lang="en-US" sz="1400" dirty="0"/>
              <a:t> matrix after applying </a:t>
            </a:r>
            <a:r>
              <a:rPr lang="en-US" sz="1400" dirty="0" err="1"/>
              <a:t>DirichletBC</a:t>
            </a:r>
            <a:r>
              <a:rPr lang="en-US" sz="1400" dirty="0"/>
              <a:t>\n")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Wingdings" pitchFamily="2" charset="2"/>
              <a:buNone/>
            </a:pPr>
            <a:endParaRPr lang="en-US" sz="14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sz="1400" dirty="0"/>
              <a:t>print(</a:t>
            </a:r>
            <a:r>
              <a:rPr lang="en-US" sz="1400" dirty="0" err="1"/>
              <a:t>A.array</a:t>
            </a:r>
            <a:r>
              <a:rPr lang="en-US" sz="1400" dirty="0"/>
              <a:t> ())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Wingdings" pitchFamily="2" charset="2"/>
              <a:buNone/>
            </a:pPr>
            <a:endParaRPr lang="en-US" sz="14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sz="1400" dirty="0"/>
              <a:t>print("\</a:t>
            </a:r>
            <a:r>
              <a:rPr lang="en-US" sz="1400" dirty="0" err="1"/>
              <a:t>nFEniCS</a:t>
            </a:r>
            <a:r>
              <a:rPr lang="en-US" sz="1400" dirty="0"/>
              <a:t> vector b after applying </a:t>
            </a:r>
            <a:r>
              <a:rPr lang="en-US" sz="1400" dirty="0" err="1"/>
              <a:t>DirichletBC</a:t>
            </a:r>
            <a:r>
              <a:rPr lang="en-US" sz="1400" dirty="0"/>
              <a:t>\n")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Wingdings" pitchFamily="2" charset="2"/>
              <a:buNone/>
            </a:pPr>
            <a:endParaRPr lang="en-US" sz="14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sz="1400" dirty="0"/>
              <a:t>print(</a:t>
            </a:r>
            <a:r>
              <a:rPr lang="en-US" sz="1400" dirty="0" err="1"/>
              <a:t>b.get_local</a:t>
            </a:r>
            <a:r>
              <a:rPr lang="en-US" sz="1400" dirty="0"/>
              <a:t>())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Wingdings" pitchFamily="2" charset="2"/>
              <a:buNone/>
            </a:pPr>
            <a:endParaRPr lang="en-US" sz="14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sz="1400" dirty="0"/>
              <a:t>sol = Function(V)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sz="1400" dirty="0"/>
              <a:t>solve(A, </a:t>
            </a:r>
            <a:r>
              <a:rPr lang="en-US" sz="1400" dirty="0" err="1"/>
              <a:t>sol.vector</a:t>
            </a:r>
            <a:r>
              <a:rPr lang="en-US" sz="1400" dirty="0"/>
              <a:t> (), b)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Wingdings" pitchFamily="2" charset="2"/>
              <a:buNone/>
            </a:pPr>
            <a:endParaRPr lang="en-US" sz="14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sz="1400" dirty="0"/>
              <a:t>print("\</a:t>
            </a:r>
            <a:r>
              <a:rPr lang="en-US" sz="1400" dirty="0" err="1"/>
              <a:t>nFEniCS</a:t>
            </a:r>
            <a:r>
              <a:rPr lang="en-US" sz="1400" dirty="0"/>
              <a:t> solution vector after applying </a:t>
            </a:r>
            <a:r>
              <a:rPr lang="en-US" sz="1400" dirty="0" err="1"/>
              <a:t>DirichletBC</a:t>
            </a:r>
            <a:r>
              <a:rPr lang="en-US" sz="1400" dirty="0"/>
              <a:t>\n")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sz="1400" dirty="0"/>
              <a:t>print(</a:t>
            </a:r>
            <a:r>
              <a:rPr lang="en-US" sz="1400" dirty="0" err="1"/>
              <a:t>sol.vector</a:t>
            </a:r>
            <a:r>
              <a:rPr lang="en-US" sz="1400" dirty="0"/>
              <a:t>().</a:t>
            </a:r>
            <a:r>
              <a:rPr lang="en-US" sz="1400" dirty="0" err="1"/>
              <a:t>get_local</a:t>
            </a:r>
            <a:r>
              <a:rPr lang="en-US" sz="1400" dirty="0"/>
              <a:t>())</a:t>
            </a:r>
          </a:p>
        </p:txBody>
      </p:sp>
    </p:spTree>
    <p:extLst>
      <p:ext uri="{BB962C8B-B14F-4D97-AF65-F5344CB8AC3E}">
        <p14:creationId xmlns:p14="http://schemas.microsoft.com/office/powerpoint/2010/main" val="33010817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5A55CFD-66DE-487C-80DE-2B0742FC18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Задания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0B315426-518B-42C3-AE07-5BBDC6ECE1D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63752" y="1960987"/>
                <a:ext cx="10336089" cy="4050792"/>
              </a:xfrm>
            </p:spPr>
            <p:txBody>
              <a:bodyPr>
                <a:normAutofit fontScale="92500" lnSpcReduction="10000"/>
              </a:bodyPr>
              <a:lstStyle/>
              <a:p>
                <a:pPr marL="457200" indent="-457200">
                  <a:lnSpc>
                    <a:spcPct val="120000"/>
                  </a:lnSpc>
                  <a:buAutoNum type="arabicPeriod"/>
                </a:pPr>
                <a:r>
                  <a:rPr lang="ru-RU" sz="2800" dirty="0"/>
                  <a:t>Построить вручную матрицу для одномерного случая и сравнить с матрицей сгенерированной автоматически (см. варианты).</a:t>
                </a:r>
              </a:p>
              <a:p>
                <a:pPr marL="457200" indent="-457200">
                  <a:lnSpc>
                    <a:spcPct val="120000"/>
                  </a:lnSpc>
                  <a:buAutoNum type="arabicPeriod"/>
                </a:pPr>
                <a:r>
                  <a:rPr lang="ru-RU" sz="2800" dirty="0"/>
                  <a:t>Для задачи и матриц из предыдущего задания решить одномерную задачу</a:t>
                </a:r>
                <a:endParaRPr lang="en-US" sz="2800" dirty="0"/>
              </a:p>
              <a:p>
                <a:pPr marL="0" indent="0" algn="ctr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𝐴𝑢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𝑓</m:t>
                      </m:r>
                    </m:oMath>
                  </m:oMathPara>
                </a14:m>
                <a:endParaRPr lang="ru-RU" sz="2800" dirty="0"/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ru-RU" sz="2800" dirty="0"/>
                  <a:t>     со следующими граничными условиями и правой частью (см. варианты).</a:t>
                </a:r>
              </a:p>
            </p:txBody>
          </p:sp>
        </mc:Choice>
        <mc:Fallback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0B315426-518B-42C3-AE07-5BBDC6ECE1D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63752" y="1960987"/>
                <a:ext cx="10336089" cy="4050792"/>
              </a:xfrm>
              <a:blipFill>
                <a:blip r:embed="rId2"/>
                <a:stretch>
                  <a:fillRect l="-1062" t="-1355" r="-35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1938212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5A55CFD-66DE-487C-80DE-2B0742FC18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Задания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B315426-518B-42C3-AE07-5BBDC6ECE1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3752" y="1960987"/>
            <a:ext cx="10336089" cy="4050792"/>
          </a:xfrm>
        </p:spPr>
        <p:txBody>
          <a:bodyPr>
            <a:normAutofit/>
          </a:bodyPr>
          <a:lstStyle/>
          <a:p>
            <a:pPr marL="514350" indent="-514350">
              <a:lnSpc>
                <a:spcPct val="120000"/>
              </a:lnSpc>
              <a:buFont typeface="+mj-lt"/>
              <a:buAutoNum type="arabicPeriod" startAt="3"/>
            </a:pPr>
            <a:r>
              <a:rPr lang="ru-RU" sz="2800" dirty="0"/>
              <a:t>Построить вручную матрицу для двумерного случая и сравнить с матрицей, сгенерированной автоматически (см. варианты) </a:t>
            </a:r>
          </a:p>
        </p:txBody>
      </p:sp>
    </p:spTree>
    <p:extLst>
      <p:ext uri="{BB962C8B-B14F-4D97-AF65-F5344CB8AC3E}">
        <p14:creationId xmlns:p14="http://schemas.microsoft.com/office/powerpoint/2010/main" val="225313373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5A55CFD-66DE-487C-80DE-2B0742FC18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Задание 1,3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0B315426-518B-42C3-AE07-5BBDC6ECE1D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63752" y="1960987"/>
                <a:ext cx="10727195" cy="4050792"/>
              </a:xfrm>
            </p:spPr>
            <p:txBody>
              <a:bodyPr>
                <a:normAutofit fontScale="85000" lnSpcReduction="10000"/>
              </a:bodyPr>
              <a:lstStyle/>
              <a:p>
                <a:pPr marL="0" indent="0">
                  <a:lnSpc>
                    <a:spcPct val="120000"/>
                  </a:lnSpc>
                  <a:buNone/>
                </a:pPr>
                <a:r>
                  <a:rPr lang="ru-RU" sz="2800" dirty="0"/>
                  <a:t>а) Для оператора диффузии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𝐴𝑢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=−</m:t>
                    </m:r>
                    <m:r>
                      <m:rPr>
                        <m:sty m:val="p"/>
                      </m:rPr>
                      <a:rPr lang="en-US" sz="2800" b="0" i="0" smtClean="0">
                        <a:latin typeface="Cambria Math" panose="02040503050406030204" pitchFamily="18" charset="0"/>
                      </a:rPr>
                      <m:t>∇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∙</m:t>
                    </m:r>
                    <m:d>
                      <m:d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US" sz="2800" b="0" i="0" smtClean="0">
                            <a:latin typeface="Cambria Math" panose="02040503050406030204" pitchFamily="18" charset="0"/>
                          </a:rPr>
                          <m:t>∇u</m:t>
                        </m:r>
                      </m:e>
                    </m:d>
                    <m:r>
                      <a:rPr lang="en-US" sz="2800" b="0" i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m:rPr>
                        <m:sty m:val="p"/>
                      </m:rPr>
                      <a:rPr lang="en-US" sz="2800" b="0" i="0" smtClean="0">
                        <a:latin typeface="Cambria Math" panose="02040503050406030204" pitchFamily="18" charset="0"/>
                      </a:rPr>
                      <m:t>k</m:t>
                    </m:r>
                    <m:r>
                      <a:rPr lang="en-US" sz="2800" b="0" i="0" smtClean="0">
                        <a:latin typeface="Cambria Math" panose="02040503050406030204" pitchFamily="18" charset="0"/>
                      </a:rPr>
                      <m:t>=0.1</m:t>
                    </m:r>
                  </m:oMath>
                </a14:m>
                <a:endParaRPr lang="en-US" sz="2800" b="0" dirty="0"/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sz="2800" dirty="0"/>
                  <a:t>b) </a:t>
                </a:r>
                <a:r>
                  <a:rPr lang="ru-RU" sz="2800" dirty="0"/>
                  <a:t>Для оператора диффузии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𝐴𝑢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=−</m:t>
                    </m:r>
                    <m:r>
                      <m:rPr>
                        <m:sty m:val="p"/>
                      </m:rPr>
                      <a:rPr lang="en-US" sz="2800" b="0" i="0" smtClean="0">
                        <a:latin typeface="Cambria Math" panose="02040503050406030204" pitchFamily="18" charset="0"/>
                      </a:rPr>
                      <m:t>∇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∙</m:t>
                    </m:r>
                    <m:d>
                      <m:d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US" sz="2800" b="0" i="0" smtClean="0">
                            <a:latin typeface="Cambria Math" panose="02040503050406030204" pitchFamily="18" charset="0"/>
                          </a:rPr>
                          <m:t>∇u</m:t>
                        </m:r>
                      </m:e>
                    </m:d>
                    <m:r>
                      <a:rPr lang="en-US" sz="2800" b="0" i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m:rPr>
                        <m:sty m:val="p"/>
                      </m:rPr>
                      <a:rPr lang="en-US" sz="2800" b="0" i="0" smtClean="0">
                        <a:latin typeface="Cambria Math" panose="02040503050406030204" pitchFamily="18" charset="0"/>
                      </a:rPr>
                      <m:t>k</m:t>
                    </m:r>
                    <m:r>
                      <a:rPr lang="en-US" sz="2800" b="0" i="0" smtClean="0">
                        <a:latin typeface="Cambria Math" panose="02040503050406030204" pitchFamily="18" charset="0"/>
                      </a:rPr>
                      <m:t>=7</m:t>
                    </m:r>
                  </m:oMath>
                </a14:m>
                <a:endParaRPr lang="en-US" sz="2800" dirty="0"/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sz="2800" dirty="0"/>
                  <a:t>c) </a:t>
                </a:r>
                <a:r>
                  <a:rPr lang="ru-RU" sz="2800" dirty="0"/>
                  <a:t>Для оператора диффузии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𝐴𝑢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=−</m:t>
                    </m:r>
                    <m:r>
                      <m:rPr>
                        <m:sty m:val="p"/>
                      </m:rPr>
                      <a:rPr lang="en-US" sz="2800" b="0" i="0" smtClean="0">
                        <a:latin typeface="Cambria Math" panose="02040503050406030204" pitchFamily="18" charset="0"/>
                      </a:rPr>
                      <m:t>∇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∙</m:t>
                    </m:r>
                    <m:d>
                      <m:d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US" sz="2800" b="0" i="0" smtClean="0">
                            <a:latin typeface="Cambria Math" panose="02040503050406030204" pitchFamily="18" charset="0"/>
                          </a:rPr>
                          <m:t>∇u</m:t>
                        </m:r>
                      </m:e>
                    </m:d>
                    <m:r>
                      <a:rPr lang="en-US" sz="2800" b="0" i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m:rPr>
                        <m:sty m:val="p"/>
                      </m:rPr>
                      <a:rPr lang="en-US" sz="2800" b="0" i="0" smtClean="0">
                        <a:latin typeface="Cambria Math" panose="02040503050406030204" pitchFamily="18" charset="0"/>
                      </a:rPr>
                      <m:t>k</m:t>
                    </m:r>
                    <m:r>
                      <a:rPr lang="en-US" sz="2800" b="0" i="0" smtClean="0">
                        <a:latin typeface="Cambria Math" panose="02040503050406030204" pitchFamily="18" charset="0"/>
                      </a:rPr>
                      <m:t>=80</m:t>
                    </m:r>
                  </m:oMath>
                </a14:m>
                <a:endParaRPr lang="en-US" sz="2800" dirty="0"/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sz="2800" dirty="0"/>
                  <a:t>d) </a:t>
                </a:r>
                <a:r>
                  <a:rPr lang="ru-RU" sz="2800" dirty="0"/>
                  <a:t>Для оператора диффузии</a:t>
                </a:r>
                <a:r>
                  <a:rPr lang="en-US" sz="2800" dirty="0"/>
                  <a:t>-</a:t>
                </a:r>
                <a:r>
                  <a:rPr lang="ru-RU" sz="2800" dirty="0"/>
                  <a:t>реакции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𝐴𝑢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=−</m:t>
                    </m:r>
                    <m:r>
                      <m:rPr>
                        <m:sty m:val="p"/>
                      </m:rPr>
                      <a:rPr lang="en-US" sz="2800" b="0" i="0" smtClean="0">
                        <a:latin typeface="Cambria Math" panose="02040503050406030204" pitchFamily="18" charset="0"/>
                      </a:rPr>
                      <m:t>∇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∙</m:t>
                    </m:r>
                    <m:d>
                      <m:d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US" sz="2800" b="0" i="0" smtClean="0">
                            <a:latin typeface="Cambria Math" panose="02040503050406030204" pitchFamily="18" charset="0"/>
                          </a:rPr>
                          <m:t>∇u</m:t>
                        </m:r>
                      </m:e>
                    </m:d>
                    <m:r>
                      <a:rPr lang="ru-RU" sz="2800" b="0" i="0" smtClean="0"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sz="2800" b="0" i="0" smtClean="0">
                        <a:latin typeface="Cambria Math" panose="02040503050406030204" pitchFamily="18" charset="0"/>
                      </a:rPr>
                      <m:t>ru</m:t>
                    </m:r>
                    <m:r>
                      <a:rPr lang="en-US" sz="2800" b="0" i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m:rPr>
                        <m:sty m:val="p"/>
                      </m:rPr>
                      <a:rPr lang="en-US" sz="2800" b="0" i="0" smtClean="0">
                        <a:latin typeface="Cambria Math" panose="02040503050406030204" pitchFamily="18" charset="0"/>
                      </a:rPr>
                      <m:t>k</m:t>
                    </m:r>
                    <m:r>
                      <a:rPr lang="en-US" sz="2800" b="0" i="0" smtClean="0">
                        <a:latin typeface="Cambria Math" panose="02040503050406030204" pitchFamily="18" charset="0"/>
                      </a:rPr>
                      <m:t>=20, </m:t>
                    </m:r>
                    <m:r>
                      <m:rPr>
                        <m:sty m:val="p"/>
                      </m:rPr>
                      <a:rPr lang="en-US" sz="2800" b="0" i="0" smtClean="0">
                        <a:latin typeface="Cambria Math" panose="02040503050406030204" pitchFamily="18" charset="0"/>
                      </a:rPr>
                      <m:t>r</m:t>
                    </m:r>
                    <m:r>
                      <a:rPr lang="en-US" sz="2800" b="0" i="0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en-US" sz="2800" dirty="0"/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sz="2800" dirty="0"/>
                  <a:t>e) </a:t>
                </a:r>
                <a:r>
                  <a:rPr lang="ru-RU" sz="2800" dirty="0"/>
                  <a:t>Для оператора диффузии</a:t>
                </a:r>
                <a:r>
                  <a:rPr lang="en-US" sz="2800" dirty="0"/>
                  <a:t>-</a:t>
                </a:r>
                <a:r>
                  <a:rPr lang="ru-RU" sz="2800" dirty="0"/>
                  <a:t>реакции</a:t>
                </a:r>
                <a14:m>
                  <m:oMath xmlns:m="http://schemas.openxmlformats.org/officeDocument/2006/math">
                    <m:r>
                      <a:rPr lang="en-US" sz="28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𝐴𝑢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=−</m:t>
                    </m:r>
                    <m:r>
                      <m:rPr>
                        <m:sty m:val="p"/>
                      </m:rPr>
                      <a:rPr lang="en-US" sz="2800">
                        <a:latin typeface="Cambria Math" panose="02040503050406030204" pitchFamily="18" charset="0"/>
                      </a:rPr>
                      <m:t>∇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∙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US" sz="2800">
                            <a:latin typeface="Cambria Math" panose="02040503050406030204" pitchFamily="18" charset="0"/>
                          </a:rPr>
                          <m:t>∇u</m:t>
                        </m:r>
                      </m:e>
                    </m:d>
                    <m:r>
                      <a:rPr lang="ru-RU" sz="2800"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sz="2800">
                        <a:latin typeface="Cambria Math" panose="02040503050406030204" pitchFamily="18" charset="0"/>
                      </a:rPr>
                      <m:t>ru</m:t>
                    </m:r>
                    <m:r>
                      <a:rPr lang="en-US" sz="2800">
                        <a:latin typeface="Cambria Math" panose="02040503050406030204" pitchFamily="18" charset="0"/>
                      </a:rPr>
                      <m:t>, </m:t>
                    </m:r>
                    <m:r>
                      <m:rPr>
                        <m:sty m:val="p"/>
                      </m:rPr>
                      <a:rPr lang="en-US" sz="2800">
                        <a:latin typeface="Cambria Math" panose="02040503050406030204" pitchFamily="18" charset="0"/>
                      </a:rPr>
                      <m:t>k</m:t>
                    </m:r>
                    <m:r>
                      <a:rPr lang="en-US" sz="2800">
                        <a:latin typeface="Cambria Math" panose="02040503050406030204" pitchFamily="18" charset="0"/>
                      </a:rPr>
                      <m:t>=7, </m:t>
                    </m:r>
                    <m:r>
                      <m:rPr>
                        <m:sty m:val="p"/>
                      </m:rPr>
                      <a:rPr lang="en-US" sz="2800">
                        <a:latin typeface="Cambria Math" panose="02040503050406030204" pitchFamily="18" charset="0"/>
                      </a:rPr>
                      <m:t>r</m:t>
                    </m:r>
                    <m:r>
                      <a:rPr lang="en-US" sz="2800">
                        <a:latin typeface="Cambria Math" panose="02040503050406030204" pitchFamily="18" charset="0"/>
                      </a:rPr>
                      <m:t>=0.1</m:t>
                    </m:r>
                  </m:oMath>
                </a14:m>
                <a:endParaRPr lang="en-US" sz="2800" dirty="0"/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sz="2800" dirty="0"/>
                  <a:t>f) </a:t>
                </a:r>
                <a:r>
                  <a:rPr lang="ru-RU" sz="2800" dirty="0"/>
                  <a:t>Для оператора диффузии</a:t>
                </a:r>
                <a:r>
                  <a:rPr lang="en-US" sz="2800" dirty="0"/>
                  <a:t>-</a:t>
                </a:r>
                <a:r>
                  <a:rPr lang="ru-RU" sz="2800" dirty="0"/>
                  <a:t>реакции</a:t>
                </a:r>
                <a14:m>
                  <m:oMath xmlns:m="http://schemas.openxmlformats.org/officeDocument/2006/math">
                    <m:r>
                      <a:rPr lang="en-US" sz="28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𝐴𝑢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=−</m:t>
                    </m:r>
                    <m:r>
                      <m:rPr>
                        <m:sty m:val="p"/>
                      </m:rPr>
                      <a:rPr lang="en-US" sz="2800">
                        <a:latin typeface="Cambria Math" panose="02040503050406030204" pitchFamily="18" charset="0"/>
                      </a:rPr>
                      <m:t>∇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∙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US" sz="2800">
                            <a:latin typeface="Cambria Math" panose="02040503050406030204" pitchFamily="18" charset="0"/>
                          </a:rPr>
                          <m:t>∇u</m:t>
                        </m:r>
                      </m:e>
                    </m:d>
                    <m:r>
                      <a:rPr lang="ru-RU" sz="2800"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sz="2800">
                        <a:latin typeface="Cambria Math" panose="02040503050406030204" pitchFamily="18" charset="0"/>
                      </a:rPr>
                      <m:t>ru</m:t>
                    </m:r>
                    <m:r>
                      <a:rPr lang="en-US" sz="2800">
                        <a:latin typeface="Cambria Math" panose="02040503050406030204" pitchFamily="18" charset="0"/>
                      </a:rPr>
                      <m:t>, </m:t>
                    </m:r>
                    <m:r>
                      <m:rPr>
                        <m:sty m:val="p"/>
                      </m:rPr>
                      <a:rPr lang="en-US" sz="2800">
                        <a:latin typeface="Cambria Math" panose="02040503050406030204" pitchFamily="18" charset="0"/>
                      </a:rPr>
                      <m:t>k</m:t>
                    </m:r>
                    <m:r>
                      <a:rPr lang="en-US" sz="2800">
                        <a:latin typeface="Cambria Math" panose="02040503050406030204" pitchFamily="18" charset="0"/>
                      </a:rPr>
                      <m:t>=50, </m:t>
                    </m:r>
                    <m:r>
                      <m:rPr>
                        <m:sty m:val="p"/>
                      </m:rPr>
                      <a:rPr lang="en-US" sz="2800">
                        <a:latin typeface="Cambria Math" panose="02040503050406030204" pitchFamily="18" charset="0"/>
                      </a:rPr>
                      <m:t>r</m:t>
                    </m:r>
                    <m:r>
                      <a:rPr lang="en-US" sz="2800">
                        <a:latin typeface="Cambria Math" panose="02040503050406030204" pitchFamily="18" charset="0"/>
                      </a:rPr>
                      <m:t>=3</m:t>
                    </m:r>
                  </m:oMath>
                </a14:m>
                <a:endParaRPr lang="en-US" sz="2800" dirty="0"/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sz="2800" dirty="0"/>
                  <a:t>g)</a:t>
                </a:r>
                <a:r>
                  <a:rPr lang="ru-RU" sz="2800" dirty="0"/>
                  <a:t> Для оператора диффузии</a:t>
                </a:r>
                <a:r>
                  <a:rPr lang="en-US" sz="2800" dirty="0"/>
                  <a:t>-</a:t>
                </a:r>
                <a:r>
                  <a:rPr lang="ru-RU" sz="2800" dirty="0"/>
                  <a:t>реакции</a:t>
                </a:r>
                <a:r>
                  <a:rPr lang="en-US" sz="2800" dirty="0"/>
                  <a:t>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𝐴𝑢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=−</m:t>
                    </m:r>
                    <m:r>
                      <m:rPr>
                        <m:sty m:val="p"/>
                      </m:rPr>
                      <a:rPr lang="en-US" sz="2800">
                        <a:latin typeface="Cambria Math" panose="02040503050406030204" pitchFamily="18" charset="0"/>
                      </a:rPr>
                      <m:t>∇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∙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US" sz="2800">
                            <a:latin typeface="Cambria Math" panose="02040503050406030204" pitchFamily="18" charset="0"/>
                          </a:rPr>
                          <m:t>∇u</m:t>
                        </m:r>
                      </m:e>
                    </m:d>
                    <m:r>
                      <a:rPr lang="ru-RU" sz="2800"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sz="2800">
                        <a:latin typeface="Cambria Math" panose="02040503050406030204" pitchFamily="18" charset="0"/>
                      </a:rPr>
                      <m:t>ru</m:t>
                    </m:r>
                    <m:r>
                      <a:rPr lang="en-US" sz="2800">
                        <a:latin typeface="Cambria Math" panose="02040503050406030204" pitchFamily="18" charset="0"/>
                      </a:rPr>
                      <m:t>, </m:t>
                    </m:r>
                    <m:r>
                      <m:rPr>
                        <m:sty m:val="p"/>
                      </m:rPr>
                      <a:rPr lang="en-US" sz="2800">
                        <a:latin typeface="Cambria Math" panose="02040503050406030204" pitchFamily="18" charset="0"/>
                      </a:rPr>
                      <m:t>k</m:t>
                    </m:r>
                    <m:r>
                      <a:rPr lang="en-US" sz="2800">
                        <a:latin typeface="Cambria Math" panose="02040503050406030204" pitchFamily="18" charset="0"/>
                      </a:rPr>
                      <m:t>=0.5, </m:t>
                    </m:r>
                    <m:r>
                      <m:rPr>
                        <m:sty m:val="p"/>
                      </m:rPr>
                      <a:rPr lang="en-US" sz="2800">
                        <a:latin typeface="Cambria Math" panose="02040503050406030204" pitchFamily="18" charset="0"/>
                      </a:rPr>
                      <m:t>r</m:t>
                    </m:r>
                    <m:r>
                      <a:rPr lang="en-US" sz="2800">
                        <a:latin typeface="Cambria Math" panose="02040503050406030204" pitchFamily="18" charset="0"/>
                      </a:rPr>
                      <m:t>=0.1</m:t>
                    </m:r>
                  </m:oMath>
                </a14:m>
                <a:endParaRPr lang="en-US" sz="2800" dirty="0"/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0B315426-518B-42C3-AE07-5BBDC6ECE1D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63752" y="1960987"/>
                <a:ext cx="10727195" cy="4050792"/>
              </a:xfrm>
              <a:blipFill>
                <a:blip r:embed="rId2"/>
                <a:stretch>
                  <a:fillRect l="-910" t="-105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7244187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5A55CFD-66DE-487C-80DE-2B0742FC18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Задание 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0B315426-518B-42C3-AE07-5BBDC6ECE1D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63752" y="1960987"/>
                <a:ext cx="10727195" cy="4050792"/>
              </a:xfrm>
            </p:spPr>
            <p:txBody>
              <a:bodyPr>
                <a:normAutofit fontScale="77500" lnSpcReduction="20000"/>
              </a:bodyPr>
              <a:lstStyle/>
              <a:p>
                <a:pPr marL="0" indent="0">
                  <a:lnSpc>
                    <a:spcPct val="120000"/>
                  </a:lnSpc>
                  <a:buNone/>
                </a:pPr>
                <a:r>
                  <a:rPr lang="ru-RU" sz="2800" dirty="0"/>
                  <a:t>а)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sz="2800" b="0" dirty="0"/>
                  <a:t>, </a:t>
                </a:r>
                <a:r>
                  <a:rPr lang="ru-RU" sz="2800" b="0" dirty="0"/>
                  <a:t>слева задать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=5</m:t>
                    </m:r>
                  </m:oMath>
                </a14:m>
                <a:r>
                  <a:rPr lang="en-US" sz="2800" b="0" dirty="0"/>
                  <a:t> </a:t>
                </a:r>
                <a:r>
                  <a:rPr lang="ru-RU" sz="2800" b="0" dirty="0"/>
                  <a:t>и справа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sz="2800" b="0" dirty="0"/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sz="2800" dirty="0"/>
                  <a:t>b)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sz="2800" dirty="0"/>
                  <a:t>, </a:t>
                </a:r>
                <a:r>
                  <a:rPr lang="ru-RU" sz="2800" dirty="0"/>
                  <a:t>слева задать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sz="2800" dirty="0"/>
                  <a:t> </a:t>
                </a:r>
                <a:r>
                  <a:rPr lang="ru-RU" sz="2800" dirty="0"/>
                  <a:t>и справа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sz="2800" dirty="0"/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sz="2800" dirty="0"/>
                  <a:t>c)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sz="2800" dirty="0"/>
                  <a:t>, </a:t>
                </a:r>
                <a:r>
                  <a:rPr lang="ru-RU" sz="2800" dirty="0"/>
                  <a:t>слева задать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=5</m:t>
                    </m:r>
                  </m:oMath>
                </a14:m>
                <a:r>
                  <a:rPr lang="en-US" sz="2800" dirty="0"/>
                  <a:t> </a:t>
                </a:r>
                <a:r>
                  <a:rPr lang="ru-RU" sz="2800" dirty="0"/>
                  <a:t>и справа </a:t>
                </a:r>
                <a14:m>
                  <m:oMath xmlns:m="http://schemas.openxmlformats.org/officeDocument/2006/math">
                    <m:r>
                      <a:rPr lang="ru-RU" sz="2800" b="0" i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𝑘</m:t>
                    </m:r>
                    <m:f>
                      <m:f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𝑢</m:t>
                        </m:r>
                      </m:num>
                      <m:den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r>
                      <a:rPr lang="en-US" sz="2800" i="1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sz="2800" dirty="0"/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sz="2800" dirty="0"/>
                  <a:t>d)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=6</m:t>
                    </m:r>
                  </m:oMath>
                </a14:m>
                <a:r>
                  <a:rPr lang="en-US" sz="2800" dirty="0"/>
                  <a:t>, </a:t>
                </a:r>
                <a:r>
                  <a:rPr lang="ru-RU" sz="2800" dirty="0"/>
                  <a:t>слева задать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sz="2800" dirty="0"/>
                  <a:t> </a:t>
                </a:r>
                <a:r>
                  <a:rPr lang="ru-RU" sz="2800" dirty="0"/>
                  <a:t>и справа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sz="2800" dirty="0"/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sz="2800" dirty="0"/>
                  <a:t>e)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=7</m:t>
                    </m:r>
                  </m:oMath>
                </a14:m>
                <a:r>
                  <a:rPr lang="en-US" sz="2800" dirty="0"/>
                  <a:t>, </a:t>
                </a:r>
                <a:r>
                  <a:rPr lang="ru-RU" sz="2800" dirty="0"/>
                  <a:t>слева задать</a:t>
                </a:r>
                <a14:m>
                  <m:oMath xmlns:m="http://schemas.openxmlformats.org/officeDocument/2006/math">
                    <m:r>
                      <a:rPr lang="ru-RU" sz="280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𝑘</m:t>
                    </m:r>
                    <m:f>
                      <m:f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𝑢</m:t>
                        </m:r>
                      </m:num>
                      <m:den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r>
                      <a:rPr lang="en-US" sz="2800" i="1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sz="2800" dirty="0"/>
                  <a:t> </a:t>
                </a:r>
                <a:r>
                  <a:rPr lang="ru-RU" sz="2800" dirty="0"/>
                  <a:t>и справа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sz="2800" dirty="0"/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sz="2800" dirty="0"/>
                  <a:t>f)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=3</m:t>
                    </m:r>
                  </m:oMath>
                </a14:m>
                <a:r>
                  <a:rPr lang="en-US" sz="2800" dirty="0"/>
                  <a:t>, </a:t>
                </a:r>
                <a:r>
                  <a:rPr lang="ru-RU" sz="2800" dirty="0"/>
                  <a:t>слева задать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=5</m:t>
                    </m:r>
                  </m:oMath>
                </a14:m>
                <a:r>
                  <a:rPr lang="en-US" sz="2800" dirty="0"/>
                  <a:t> </a:t>
                </a:r>
                <a:r>
                  <a:rPr lang="ru-RU" sz="2800" dirty="0"/>
                  <a:t>и справа</a:t>
                </a:r>
                <a14:m>
                  <m:oMath xmlns:m="http://schemas.openxmlformats.org/officeDocument/2006/math">
                    <m:r>
                      <a:rPr lang="ru-RU" sz="280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𝑘</m:t>
                    </m:r>
                    <m:f>
                      <m:f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𝑢</m:t>
                        </m:r>
                      </m:num>
                      <m:den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r>
                      <a:rPr lang="en-US" sz="2800" i="1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sz="2800" dirty="0"/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sz="2800" dirty="0"/>
                  <a:t>g)</a:t>
                </a:r>
                <a:r>
                  <a:rPr lang="ru-RU" sz="2800" dirty="0"/>
                  <a:t>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sz="2800" dirty="0"/>
                  <a:t>, </a:t>
                </a:r>
                <a:r>
                  <a:rPr lang="ru-RU" sz="2800" dirty="0"/>
                  <a:t>слева задать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r>
                  <a:rPr lang="en-US" sz="2800" dirty="0"/>
                  <a:t> </a:t>
                </a:r>
                <a:r>
                  <a:rPr lang="ru-RU" sz="2800" dirty="0"/>
                  <a:t>и справа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en-US" sz="2800" dirty="0"/>
              </a:p>
              <a:p>
                <a:pPr marL="0" indent="0">
                  <a:lnSpc>
                    <a:spcPct val="120000"/>
                  </a:lnSpc>
                  <a:buNone/>
                </a:pPr>
                <a:endParaRPr lang="en-US" sz="2800" dirty="0"/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0B315426-518B-42C3-AE07-5BBDC6ECE1D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63752" y="1960987"/>
                <a:ext cx="10727195" cy="4050792"/>
              </a:xfrm>
              <a:blipFill>
                <a:blip r:embed="rId2"/>
                <a:stretch>
                  <a:fillRect l="-739" t="-120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2819579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5A55CFD-66DE-487C-80DE-2B0742FC18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Варианты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B315426-518B-42C3-AE07-5BBDC6ECE1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46531" y="1972537"/>
            <a:ext cx="2738227" cy="4050792"/>
          </a:xfrm>
        </p:spPr>
        <p:txBody>
          <a:bodyPr>
            <a:normAutofit/>
          </a:bodyPr>
          <a:lstStyle/>
          <a:p>
            <a:pPr marL="342900" indent="-342900">
              <a:buAutoNum type="arabicParenR"/>
            </a:pPr>
            <a:r>
              <a:rPr lang="ru-RU" sz="1800" dirty="0"/>
              <a:t>1</a:t>
            </a:r>
            <a:r>
              <a:rPr lang="en-US" sz="1800" dirty="0"/>
              <a:t>a; 2a; 3g;</a:t>
            </a:r>
          </a:p>
          <a:p>
            <a:pPr marL="342900" indent="-342900">
              <a:buAutoNum type="arabicParenR"/>
            </a:pPr>
            <a:r>
              <a:rPr lang="en-US" sz="1800" dirty="0"/>
              <a:t>1b; 2b; 3f;</a:t>
            </a:r>
          </a:p>
          <a:p>
            <a:pPr marL="342900" indent="-342900">
              <a:buAutoNum type="arabicParenR"/>
            </a:pPr>
            <a:r>
              <a:rPr lang="en-US" sz="1800" dirty="0"/>
              <a:t>1c; 2c; 3e;</a:t>
            </a:r>
          </a:p>
          <a:p>
            <a:pPr marL="342900" indent="-342900">
              <a:buAutoNum type="arabicParenR"/>
            </a:pPr>
            <a:r>
              <a:rPr lang="en-US" sz="1800" dirty="0"/>
              <a:t>1d; 2d; 3c;</a:t>
            </a:r>
          </a:p>
          <a:p>
            <a:pPr marL="342900" indent="-342900">
              <a:buAutoNum type="arabicParenR"/>
            </a:pPr>
            <a:r>
              <a:rPr lang="en-US" sz="1800" dirty="0"/>
              <a:t>1e; 2e; 3b;</a:t>
            </a:r>
          </a:p>
          <a:p>
            <a:pPr marL="342900" indent="-342900">
              <a:buAutoNum type="arabicParenR"/>
            </a:pPr>
            <a:r>
              <a:rPr lang="en-US" sz="1800" dirty="0"/>
              <a:t>1f; 2f; 3a;</a:t>
            </a:r>
          </a:p>
          <a:p>
            <a:pPr marL="342900" indent="-342900">
              <a:buAutoNum type="arabicParenR"/>
            </a:pPr>
            <a:r>
              <a:rPr lang="en-US" sz="1800" dirty="0"/>
              <a:t>1g; 2g; 3c;</a:t>
            </a:r>
          </a:p>
          <a:p>
            <a:pPr marL="342900" indent="-342900">
              <a:buAutoNum type="arabicParenR"/>
            </a:pPr>
            <a:endParaRPr lang="en-US" sz="1800" dirty="0"/>
          </a:p>
          <a:p>
            <a:pPr marL="0" indent="0">
              <a:buNone/>
            </a:pPr>
            <a:endParaRPr lang="en-US" sz="1800" dirty="0"/>
          </a:p>
        </p:txBody>
      </p:sp>
      <p:sp>
        <p:nvSpPr>
          <p:cNvPr id="8" name="Объект 2">
            <a:extLst>
              <a:ext uri="{FF2B5EF4-FFF2-40B4-BE49-F238E27FC236}">
                <a16:creationId xmlns:a16="http://schemas.microsoft.com/office/drawing/2014/main" id="{6C128840-D72E-4308-B21F-892FD65BE597}"/>
              </a:ext>
            </a:extLst>
          </p:cNvPr>
          <p:cNvSpPr txBox="1">
            <a:spLocks/>
          </p:cNvSpPr>
          <p:nvPr/>
        </p:nvSpPr>
        <p:spPr>
          <a:xfrm>
            <a:off x="6545177" y="1972537"/>
            <a:ext cx="2738227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+mj-lt"/>
              <a:buAutoNum type="arabicParenR" startAt="8"/>
            </a:pPr>
            <a:r>
              <a:rPr lang="ru-RU" sz="1800" dirty="0"/>
              <a:t>1</a:t>
            </a:r>
            <a:r>
              <a:rPr lang="en-US" sz="1800" dirty="0"/>
              <a:t>g; 2a; 3b;</a:t>
            </a:r>
          </a:p>
          <a:p>
            <a:pPr marL="342900" indent="-342900">
              <a:buFont typeface="Wingdings" pitchFamily="2" charset="2"/>
              <a:buAutoNum type="arabicParenR" startAt="8"/>
            </a:pPr>
            <a:r>
              <a:rPr lang="en-US" sz="1800" dirty="0"/>
              <a:t>1f; 2b; 3c;</a:t>
            </a:r>
          </a:p>
          <a:p>
            <a:pPr marL="342900" indent="-342900">
              <a:buFont typeface="Wingdings" pitchFamily="2" charset="2"/>
              <a:buAutoNum type="arabicParenR" startAt="8"/>
            </a:pPr>
            <a:r>
              <a:rPr lang="en-US" sz="1800" dirty="0"/>
              <a:t>1e; 2c; 3a;</a:t>
            </a:r>
          </a:p>
          <a:p>
            <a:pPr marL="342900" indent="-342900">
              <a:buFont typeface="Wingdings" pitchFamily="2" charset="2"/>
              <a:buAutoNum type="arabicParenR" startAt="8"/>
            </a:pPr>
            <a:r>
              <a:rPr lang="en-US" sz="1800" dirty="0"/>
              <a:t>1d; 2d; 3b;</a:t>
            </a:r>
          </a:p>
          <a:p>
            <a:pPr marL="342900" indent="-342900">
              <a:buFont typeface="Wingdings" pitchFamily="2" charset="2"/>
              <a:buAutoNum type="arabicParenR" startAt="8"/>
            </a:pPr>
            <a:r>
              <a:rPr lang="en-US" sz="1800" dirty="0"/>
              <a:t>1c; 2e; 3f;</a:t>
            </a:r>
          </a:p>
          <a:p>
            <a:pPr marL="342900" indent="-342900">
              <a:buFont typeface="Wingdings" pitchFamily="2" charset="2"/>
              <a:buAutoNum type="arabicParenR" startAt="8"/>
            </a:pPr>
            <a:r>
              <a:rPr lang="en-US" sz="1800" dirty="0"/>
              <a:t>1b; 2f; 3g;</a:t>
            </a:r>
          </a:p>
          <a:p>
            <a:pPr marL="342900" indent="-342900">
              <a:buFont typeface="Wingdings" pitchFamily="2" charset="2"/>
              <a:buAutoNum type="arabicParenR" startAt="8"/>
            </a:pPr>
            <a:r>
              <a:rPr lang="en-US" sz="1800" dirty="0"/>
              <a:t>1a; 2g; 3e;</a:t>
            </a:r>
          </a:p>
          <a:p>
            <a:pPr marL="342900" indent="-342900">
              <a:buFont typeface="Wingdings" pitchFamily="2" charset="2"/>
              <a:buAutoNum type="arabicParenR" startAt="8"/>
            </a:pPr>
            <a:endParaRPr lang="en-US" sz="1800" dirty="0"/>
          </a:p>
          <a:p>
            <a:pPr marL="0" indent="0">
              <a:buFont typeface="Wingdings" pitchFamily="2" charset="2"/>
              <a:buNone/>
            </a:pP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391197266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Дерево">
  <a:themeElements>
    <a:clrScheme name="Дерево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Дерево">
      <a:majorFont>
        <a:latin typeface="Georgia" panose="020405020504050203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Trebuchet MS" panose="020B0603020202020204"/>
        <a:ea typeface=""/>
        <a:cs typeface=""/>
        <a:font script="Jpan" typeface="HG丸ｺﾞｼｯｸM-PRO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Дерево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C6AE0645-98FF-411B-B0E9-59ABD78A0CCE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Дерево</Template>
  <TotalTime>526</TotalTime>
  <Words>2051</Words>
  <Application>Microsoft Office PowerPoint</Application>
  <PresentationFormat>Широкоэкранный</PresentationFormat>
  <Paragraphs>262</Paragraphs>
  <Slides>19</Slides>
  <Notes>3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19</vt:i4>
      </vt:variant>
    </vt:vector>
  </HeadingPairs>
  <TitlesOfParts>
    <vt:vector size="25" baseType="lpstr">
      <vt:lpstr>Calibri</vt:lpstr>
      <vt:lpstr>Cambria Math</vt:lpstr>
      <vt:lpstr>Georgia</vt:lpstr>
      <vt:lpstr>Trebuchet MS</vt:lpstr>
      <vt:lpstr>Wingdings</vt:lpstr>
      <vt:lpstr>Дерево</vt:lpstr>
      <vt:lpstr>Построение матриц конечных элементов</vt:lpstr>
      <vt:lpstr>Построение матрицы кэ для одномерного случая</vt:lpstr>
      <vt:lpstr>Построение матрицы кэ для одномерного случая</vt:lpstr>
      <vt:lpstr>Построение матрицы кэ для одномерного случая</vt:lpstr>
      <vt:lpstr>Построение матрицы кэ для одномерного случая</vt:lpstr>
      <vt:lpstr>Построение матрицы кэ для одномерного случая</vt:lpstr>
      <vt:lpstr>Построение матрицы кэ для одномерного случая</vt:lpstr>
      <vt:lpstr>Построение матрицы кэ для одномерного случая</vt:lpstr>
      <vt:lpstr>Построение матрицы кэ для двумерного случая</vt:lpstr>
      <vt:lpstr>Построение матрицы кэ для двумерного случая</vt:lpstr>
      <vt:lpstr>Построение матрицы кэ для двумерного случая</vt:lpstr>
      <vt:lpstr>Построение матрицы кэ для двумерного случая</vt:lpstr>
      <vt:lpstr>Построение матрицы кэ для двумерного случая</vt:lpstr>
      <vt:lpstr>Построение матрицы кэ для двумерного случая</vt:lpstr>
      <vt:lpstr>Задания</vt:lpstr>
      <vt:lpstr>Задания</vt:lpstr>
      <vt:lpstr>Задание 1,3</vt:lpstr>
      <vt:lpstr>Задание 2</vt:lpstr>
      <vt:lpstr>Варианты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Kellerman</dc:creator>
  <cp:lastModifiedBy>Валентин Алексеев</cp:lastModifiedBy>
  <cp:revision>42</cp:revision>
  <dcterms:created xsi:type="dcterms:W3CDTF">2022-10-09T10:49:43Z</dcterms:created>
  <dcterms:modified xsi:type="dcterms:W3CDTF">2023-12-10T08:51:56Z</dcterms:modified>
</cp:coreProperties>
</file>