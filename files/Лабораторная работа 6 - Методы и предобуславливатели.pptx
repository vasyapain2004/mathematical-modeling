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9"/>
  </p:notesMasterIdLst>
  <p:sldIdLst>
    <p:sldId id="256" r:id="rId2"/>
    <p:sldId id="319" r:id="rId3"/>
    <p:sldId id="322" r:id="rId4"/>
    <p:sldId id="320" r:id="rId5"/>
    <p:sldId id="257" r:id="rId6"/>
    <p:sldId id="321" r:id="rId7"/>
    <p:sldId id="323" r:id="rId8"/>
    <p:sldId id="303" r:id="rId9"/>
    <p:sldId id="324" r:id="rId10"/>
    <p:sldId id="304" r:id="rId11"/>
    <p:sldId id="325" r:id="rId12"/>
    <p:sldId id="305" r:id="rId13"/>
    <p:sldId id="306" r:id="rId14"/>
    <p:sldId id="287" r:id="rId15"/>
    <p:sldId id="316" r:id="rId16"/>
    <p:sldId id="318" r:id="rId17"/>
    <p:sldId id="32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993" autoAdjust="0"/>
  </p:normalViewPr>
  <p:slideViewPr>
    <p:cSldViewPr snapToGrid="0">
      <p:cViewPr varScale="1">
        <p:scale>
          <a:sx n="59" d="100"/>
          <a:sy n="59" d="100"/>
        </p:scale>
        <p:origin x="8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0CEC10-C05A-47AA-82D6-D3BC4BF6D467}" type="datetimeFigureOut">
              <a:rPr lang="ru-RU" smtClean="0"/>
              <a:t>28.10.2024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E8E2C-279F-4670-83CE-281DEC4E5D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4276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E8E2C-279F-4670-83CE-281DEC4E5DE1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1058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28.10.2024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446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28.10.2024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7999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083CA84-5427-410A-9B6F-78174845156C}" type="datetimeFigureOut">
              <a:rPr lang="ru-RU" smtClean="0"/>
              <a:t>28.10.2024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ru-RU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169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28.10.2024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072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28.10.2024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302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28.10.2024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5141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28.10.2024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099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28.10.2024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425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28.10.2024</a:t>
            </a:fld>
            <a:endParaRPr lang="ru-RU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1918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28.10.2024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091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28.10.2024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812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9083CA84-5427-410A-9B6F-78174845156C}" type="datetimeFigureOut">
              <a:rPr lang="ru-RU" smtClean="0"/>
              <a:t>28.10.2024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0466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B2BC1B-B54C-4AF6-A758-A8E007EFD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10088880" cy="3035808"/>
          </a:xfrm>
        </p:spPr>
        <p:txBody>
          <a:bodyPr/>
          <a:lstStyle/>
          <a:p>
            <a:r>
              <a:rPr lang="ru-RU" sz="6000" dirty="0"/>
              <a:t>Система линейных алгебраических уравнений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CFB13B-C16D-4407-BB11-F48A25659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560" y="4355929"/>
            <a:ext cx="7891272" cy="1069848"/>
          </a:xfrm>
        </p:spPr>
        <p:txBody>
          <a:bodyPr/>
          <a:lstStyle/>
          <a:p>
            <a:r>
              <a:rPr lang="ru-RU" dirty="0"/>
              <a:t>Алексеев Валентин Николаевич</a:t>
            </a:r>
          </a:p>
        </p:txBody>
      </p:sp>
    </p:spTree>
    <p:extLst>
      <p:ext uri="{BB962C8B-B14F-4D97-AF65-F5344CB8AC3E}">
        <p14:creationId xmlns:p14="http://schemas.microsoft.com/office/powerpoint/2010/main" val="157027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Математическая модель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9" y="2121408"/>
                <a:ext cx="5379077" cy="405079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400" dirty="0"/>
                  <a:t>Рассмотрим эллиптическое уравнение (Уравнение Пуассона) в трехмерной области: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:r>
                  <a:rPr lang="ru-RU" sz="2400" dirty="0"/>
                  <a:t>Уравнение дополняется следующими граничными условиями: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ru-R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Г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ru-R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Г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400" b="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9" y="2121408"/>
                <a:ext cx="5379077" cy="4050792"/>
              </a:xfrm>
              <a:blipFill>
                <a:blip r:embed="rId2"/>
                <a:stretch>
                  <a:fillRect l="-1814" t="-2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ADA3C7-E114-4C12-B35F-F2120FD91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926" y="2121408"/>
            <a:ext cx="4174286" cy="315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062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Базисные функции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</p:spPr>
            <p:txBody>
              <a:bodyPr>
                <a:noAutofit/>
              </a:bodyPr>
              <a:lstStyle/>
              <a:p>
                <a:pPr marL="274320" lvl="1" indent="0">
                  <a:buNone/>
                </a:pPr>
                <a:r>
                  <a:rPr lang="ru-RU" sz="2800" dirty="0"/>
                  <a:t>В методе конечных элементов решение представляется в виде линейной комбинации заданных базисных функций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800" dirty="0"/>
                  <a:t> (Метод Галеркина)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800" dirty="0"/>
              </a:p>
              <a:p>
                <a:pPr marL="274320" lvl="1" indent="0">
                  <a:buNone/>
                </a:pPr>
                <a:r>
                  <a:rPr lang="ru-RU" sz="2800" dirty="0"/>
                  <a:t>Коэффициенты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800" dirty="0"/>
                  <a:t> вычисляются посредством решения </a:t>
                </a:r>
                <a:r>
                  <a:rPr lang="en-US" sz="2800" dirty="0"/>
                  <a:t>N </a:t>
                </a:r>
                <a:r>
                  <a:rPr lang="ru-RU" sz="2800" dirty="0"/>
                  <a:t>дискретных алгебраических уравнений.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  <a:blipFill>
                <a:blip r:embed="rId2"/>
                <a:stretch>
                  <a:fillRect t="-2406" r="-7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4836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Система линейных алгебраических уравнений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</p:spPr>
            <p:txBody>
              <a:bodyPr>
                <a:noAutofit/>
              </a:bodyPr>
              <a:lstStyle/>
              <a:p>
                <a:pPr marL="274320" lvl="1" indent="0">
                  <a:buNone/>
                </a:pPr>
                <a:r>
                  <a:rPr lang="ru-RU" sz="2800" dirty="0"/>
                  <a:t>Поскольку:</a:t>
                </a:r>
                <a:br>
                  <a:rPr lang="ru-RU" sz="28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=0,1…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  <a:p>
                <a:pPr marL="274320" lvl="1" indent="0">
                  <a:buNone/>
                </a:pPr>
                <a:r>
                  <a:rPr lang="ru-RU" sz="2800" dirty="0"/>
                  <a:t>то исходная задача сводится к решению систем линейных алгебраических уравнений: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𝐴𝑦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RU" sz="2800" dirty="0"/>
              </a:p>
              <a:p>
                <a:pPr marL="274320" lvl="1" indent="0">
                  <a:buNone/>
                </a:pPr>
                <a:r>
                  <a:rPr lang="ru-RU" sz="28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8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ru-RU" sz="28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sz="2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  <a:blipFill>
                <a:blip r:embed="rId2"/>
                <a:stretch>
                  <a:fillRect t="-2406" r="-16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8792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Итерационные методы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315426-518B-42C3-AE07-5BBDC6ECE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9" y="2121408"/>
            <a:ext cx="6293478" cy="4050792"/>
          </a:xfrm>
        </p:spPr>
        <p:txBody>
          <a:bodyPr>
            <a:noAutofit/>
          </a:bodyPr>
          <a:lstStyle/>
          <a:p>
            <a:pPr marL="274320" lvl="1" indent="0">
              <a:buNone/>
            </a:pPr>
            <a:r>
              <a:rPr lang="ru-RU" sz="2000" dirty="0"/>
              <a:t>По умолчанию для решения линейных систем уравнений в программах используется прямой метод, а именно разреженное </a:t>
            </a:r>
            <a:r>
              <a:rPr lang="en-US" sz="2000" dirty="0"/>
              <a:t>LU-</a:t>
            </a:r>
            <a:r>
              <a:rPr lang="ru-RU" sz="2000" dirty="0"/>
              <a:t>разложение. Данный метод становится медленной и требует памяти в больших задачах, например в </a:t>
            </a:r>
            <a:r>
              <a:rPr lang="en-US" sz="2000" dirty="0"/>
              <a:t>3D </a:t>
            </a:r>
            <a:r>
              <a:rPr lang="ru-RU" sz="2000" dirty="0"/>
              <a:t>задачах. Поэтому в таких случаях лучше использовать итерационные методы, которые быстрее и требуют гораздо меньше памяти. </a:t>
            </a:r>
            <a:endParaRPr lang="en-US" sz="2000" dirty="0"/>
          </a:p>
          <a:p>
            <a:pPr marL="274320" lvl="1" indent="0">
              <a:buNone/>
            </a:pPr>
            <a:endParaRPr lang="en-US" sz="2000" dirty="0"/>
          </a:p>
        </p:txBody>
      </p:sp>
      <p:pic>
        <p:nvPicPr>
          <p:cNvPr id="1026" name="Picture 2" descr="Gmsh - Wikipedia">
            <a:extLst>
              <a:ext uri="{FF2B5EF4-FFF2-40B4-BE49-F238E27FC236}">
                <a16:creationId xmlns:a16="http://schemas.microsoft.com/office/drawing/2014/main" id="{86D3A1F9-7131-4C73-99DE-3D5C2C28B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0669" y="2150916"/>
            <a:ext cx="3351482" cy="2613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3535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Решатель Крылова с </a:t>
            </a:r>
            <a:r>
              <a:rPr lang="ru-RU" dirty="0" err="1"/>
              <a:t>предобуславливателем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315426-518B-42C3-AE07-5BBDC6ECE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9" y="2121408"/>
            <a:ext cx="10320046" cy="4050792"/>
          </a:xfrm>
        </p:spPr>
        <p:txBody>
          <a:bodyPr>
            <a:noAutofit/>
          </a:bodyPr>
          <a:lstStyle/>
          <a:p>
            <a:pPr marL="274320" lvl="1" indent="0">
              <a:buNone/>
            </a:pPr>
            <a:r>
              <a:rPr lang="ru-RU" sz="2400" dirty="0"/>
              <a:t>Решатели Крылова с </a:t>
            </a:r>
            <a:r>
              <a:rPr lang="ru-RU" sz="2400" dirty="0" err="1"/>
              <a:t>предобуславливателем</a:t>
            </a:r>
            <a:r>
              <a:rPr lang="ru-RU" sz="2400" dirty="0"/>
              <a:t> – это тип итерационных методов, которые легко доступны в программах </a:t>
            </a:r>
            <a:r>
              <a:rPr lang="en-US" sz="2400" dirty="0" err="1"/>
              <a:t>FEniCS</a:t>
            </a:r>
            <a:r>
              <a:rPr lang="en-US" sz="2400" dirty="0"/>
              <a:t>.</a:t>
            </a:r>
            <a:r>
              <a:rPr lang="ru-RU" sz="2400" dirty="0"/>
              <a:t> Уравнение Пуассона приводит к симметричной положительно определенной матрице коэффициентов, для которой оптимальным решателем Крылова является метод сопряженных градиентов (CG). Неполная LU-факторизация (ILU) — популярный и надежный универсальный </a:t>
            </a:r>
            <a:r>
              <a:rPr lang="ru-RU" sz="2400" dirty="0" err="1"/>
              <a:t>преобуславливатель</a:t>
            </a:r>
            <a:r>
              <a:rPr lang="ru-RU" sz="2400" dirty="0"/>
              <a:t>, поэтому давайте попробуем пару CG-ILU:</a:t>
            </a:r>
            <a:r>
              <a:rPr lang="en-US" sz="2400" dirty="0"/>
              <a:t> </a:t>
            </a:r>
            <a:r>
              <a:rPr lang="ru-RU" sz="2400" dirty="0"/>
              <a:t> </a:t>
            </a:r>
            <a:endParaRPr lang="en-US" sz="2400" dirty="0"/>
          </a:p>
          <a:p>
            <a:pPr marL="274320" lvl="1" indent="0">
              <a:buNone/>
            </a:pPr>
            <a:endParaRPr lang="en-US" sz="2000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DDC5229-043F-49B7-9A5D-1422996D8BA1}"/>
              </a:ext>
            </a:extLst>
          </p:cNvPr>
          <p:cNvSpPr txBox="1">
            <a:spLocks/>
          </p:cNvSpPr>
          <p:nvPr/>
        </p:nvSpPr>
        <p:spPr>
          <a:xfrm>
            <a:off x="1200672" y="4724320"/>
            <a:ext cx="10058400" cy="5935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dirty="0"/>
              <a:t>solve(a == L, u, </a:t>
            </a:r>
            <a:r>
              <a:rPr lang="en-US" dirty="0" err="1"/>
              <a:t>bc</a:t>
            </a:r>
            <a:r>
              <a:rPr lang="en-US" dirty="0"/>
              <a:t>, </a:t>
            </a:r>
            <a:r>
              <a:rPr lang="en-US" dirty="0" err="1"/>
              <a:t>solver_parameters</a:t>
            </a:r>
            <a:r>
              <a:rPr lang="en-US" dirty="0"/>
              <a:t>=</a:t>
            </a:r>
            <a:r>
              <a:rPr lang="en-US" dirty="0" err="1"/>
              <a:t>dict</a:t>
            </a:r>
            <a:r>
              <a:rPr lang="en-US" dirty="0"/>
              <a:t>(</a:t>
            </a:r>
            <a:r>
              <a:rPr lang="en-US" dirty="0" err="1">
                <a:solidFill>
                  <a:srgbClr val="FF0000"/>
                </a:solidFill>
              </a:rPr>
              <a:t>linear_solver</a:t>
            </a:r>
            <a:r>
              <a:rPr lang="en-US" dirty="0">
                <a:solidFill>
                  <a:srgbClr val="FF0000"/>
                </a:solidFill>
              </a:rPr>
              <a:t>="cg", preconditioner="</a:t>
            </a:r>
            <a:r>
              <a:rPr lang="en-US" dirty="0" err="1">
                <a:solidFill>
                  <a:srgbClr val="FF0000"/>
                </a:solidFill>
              </a:rPr>
              <a:t>ilu</a:t>
            </a:r>
            <a:r>
              <a:rPr lang="en-US" dirty="0">
                <a:solidFill>
                  <a:srgbClr val="FF0000"/>
                </a:solidFill>
              </a:rPr>
              <a:t>"</a:t>
            </a:r>
            <a:r>
              <a:rPr lang="en-US" dirty="0"/>
              <a:t>))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9219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Пакеты линейной алгебры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315426-518B-42C3-AE07-5BBDC6ECE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2093976"/>
            <a:ext cx="10320046" cy="4050792"/>
          </a:xfrm>
        </p:spPr>
        <p:txBody>
          <a:bodyPr>
            <a:noAutofit/>
          </a:bodyPr>
          <a:lstStyle/>
          <a:p>
            <a:pPr marL="274320" lvl="1" indent="0">
              <a:buNone/>
            </a:pPr>
            <a:r>
              <a:rPr lang="ru-RU" sz="2000" dirty="0"/>
              <a:t>Реальные реализации CG и ILU, которые мы будем использовать, зависят от выбора пакета линейной алгебры. </a:t>
            </a:r>
          </a:p>
          <a:p>
            <a:pPr marL="274320" lvl="1" indent="0">
              <a:buNone/>
            </a:pPr>
            <a:r>
              <a:rPr lang="ru-RU" sz="2000" dirty="0" err="1"/>
              <a:t>FEniCS</a:t>
            </a:r>
            <a:r>
              <a:rPr lang="ru-RU" sz="2000" dirty="0"/>
              <a:t> взаимодействует с несколькими пакетами линейной алгебры, которые в терминологии </a:t>
            </a:r>
            <a:r>
              <a:rPr lang="ru-RU" sz="2000" dirty="0" err="1"/>
              <a:t>FEniCS</a:t>
            </a:r>
            <a:r>
              <a:rPr lang="ru-RU" sz="2000" dirty="0"/>
              <a:t> называются бэкендами линейной алгебры: </a:t>
            </a:r>
          </a:p>
          <a:p>
            <a:pPr lvl="1"/>
            <a:r>
              <a:rPr lang="ru-RU" sz="2000" dirty="0" err="1"/>
              <a:t>PETSc</a:t>
            </a:r>
            <a:r>
              <a:rPr lang="ru-RU" sz="2000" dirty="0"/>
              <a:t> - является выбором по умолчанию, если DOLFIN скомпилирован с </a:t>
            </a:r>
            <a:r>
              <a:rPr lang="ru-RU" sz="2000" dirty="0" err="1"/>
              <a:t>PETSc</a:t>
            </a:r>
            <a:r>
              <a:rPr lang="ru-RU" sz="2000" dirty="0"/>
              <a:t> </a:t>
            </a:r>
          </a:p>
          <a:p>
            <a:pPr lvl="1"/>
            <a:r>
              <a:rPr lang="ru-RU" sz="2000" dirty="0" err="1"/>
              <a:t>uBLAS</a:t>
            </a:r>
            <a:endParaRPr lang="ru-RU" sz="2000" dirty="0"/>
          </a:p>
          <a:p>
            <a:pPr lvl="1"/>
            <a:r>
              <a:rPr lang="ru-RU" sz="2000" dirty="0" err="1"/>
              <a:t>Epetra</a:t>
            </a:r>
            <a:r>
              <a:rPr lang="ru-RU" sz="2000" dirty="0"/>
              <a:t> (</a:t>
            </a:r>
            <a:r>
              <a:rPr lang="ru-RU" sz="2000" dirty="0" err="1"/>
              <a:t>Trilinos</a:t>
            </a:r>
            <a:r>
              <a:rPr lang="ru-RU" sz="2000" dirty="0"/>
              <a:t>)</a:t>
            </a:r>
          </a:p>
          <a:p>
            <a:pPr lvl="1"/>
            <a:r>
              <a:rPr lang="ru-RU" sz="2000" dirty="0"/>
              <a:t>MTL4</a:t>
            </a:r>
          </a:p>
          <a:p>
            <a:pPr marL="274320" lvl="1" indent="0">
              <a:buNone/>
            </a:pPr>
            <a:r>
              <a:rPr lang="ru-RU" sz="2000" dirty="0"/>
              <a:t>Все эти бэкенды предлагают качественные реализации как итерационных, так и прямых решателей для линейных систем уравнений. Какой бэкенд применять, можно контролировать, установив, в качестве </a:t>
            </a:r>
            <a:r>
              <a:rPr lang="en-US" sz="2000" dirty="0" err="1"/>
              <a:t>backendname</a:t>
            </a:r>
            <a:r>
              <a:rPr lang="ru-RU" sz="2000" dirty="0"/>
              <a:t> пишем имя пакета</a:t>
            </a:r>
            <a:endParaRPr lang="en-US" sz="2000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B8AB0F5-97A6-42DC-BDFF-8BF9E2713C57}"/>
              </a:ext>
            </a:extLst>
          </p:cNvPr>
          <p:cNvSpPr txBox="1">
            <a:spLocks/>
          </p:cNvSpPr>
          <p:nvPr/>
        </p:nvSpPr>
        <p:spPr>
          <a:xfrm>
            <a:off x="1556083" y="5695589"/>
            <a:ext cx="9304421" cy="5935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dirty="0"/>
              <a:t>parameters[</a:t>
            </a:r>
            <a:r>
              <a:rPr lang="en-US" dirty="0">
                <a:solidFill>
                  <a:srgbClr val="FF0000"/>
                </a:solidFill>
              </a:rPr>
              <a:t>"</a:t>
            </a:r>
            <a:r>
              <a:rPr lang="en-US" dirty="0" err="1">
                <a:solidFill>
                  <a:srgbClr val="FF0000"/>
                </a:solidFill>
              </a:rPr>
              <a:t>linear_algebra_backend</a:t>
            </a:r>
            <a:r>
              <a:rPr lang="en-US" dirty="0">
                <a:solidFill>
                  <a:srgbClr val="FF0000"/>
                </a:solidFill>
              </a:rPr>
              <a:t>"</a:t>
            </a:r>
            <a:r>
              <a:rPr lang="en-US" dirty="0"/>
              <a:t>] = </a:t>
            </a:r>
            <a:r>
              <a:rPr lang="en-US" dirty="0" err="1"/>
              <a:t>backendname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4860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Критерий остановки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315426-518B-42C3-AE07-5BBDC6ECE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207751" cy="4050792"/>
          </a:xfrm>
        </p:spPr>
        <p:txBody>
          <a:bodyPr>
            <a:normAutofit/>
          </a:bodyPr>
          <a:lstStyle/>
          <a:p>
            <a:pPr marL="274320" lvl="1" indent="0">
              <a:buNone/>
            </a:pPr>
            <a:r>
              <a:rPr lang="ru-RU" dirty="0"/>
              <a:t>Обычно нам нравится контролировать допуск критерия остановки и максимальное количество итераций при запуске итеративного метода. Такие параметры можно задать, обратившись к базе данных глобальных параметров, которая называется параметрами и ведет себя как вложенный словарь. Напишите </a:t>
            </a:r>
          </a:p>
          <a:p>
            <a:pPr marL="274320" lvl="1" indent="0">
              <a:buNone/>
            </a:pPr>
            <a:endParaRPr lang="ru-RU" dirty="0"/>
          </a:p>
          <a:p>
            <a:pPr marL="274320" lvl="1" indent="0">
              <a:buNone/>
            </a:pPr>
            <a:endParaRPr lang="ru-RU" dirty="0"/>
          </a:p>
          <a:p>
            <a:pPr marL="274320" lvl="1" indent="0">
              <a:buNone/>
            </a:pPr>
            <a:r>
              <a:rPr lang="ru-RU" dirty="0"/>
              <a:t>чтобы перечислить все параметры и их значения по умолчанию в базе данных. Вложенность наборов параметров указывается отступом в выводе из информации. В соответствии с этим выводом соответствующий набор параметров называется «</a:t>
            </a:r>
            <a:r>
              <a:rPr lang="ru-RU" dirty="0" err="1"/>
              <a:t>krylov_solver</a:t>
            </a:r>
            <a:r>
              <a:rPr lang="ru-RU" dirty="0"/>
              <a:t>», и параметры устанавливаются следующим образом:</a:t>
            </a:r>
            <a:endParaRPr lang="en-US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51881DA-AE0C-4EE6-B621-7CD76CF2412B}"/>
              </a:ext>
            </a:extLst>
          </p:cNvPr>
          <p:cNvSpPr txBox="1">
            <a:spLocks/>
          </p:cNvSpPr>
          <p:nvPr/>
        </p:nvSpPr>
        <p:spPr>
          <a:xfrm>
            <a:off x="1973178" y="3286626"/>
            <a:ext cx="9304421" cy="4130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dirty="0"/>
              <a:t>info(parameters, </a:t>
            </a:r>
            <a:r>
              <a:rPr lang="en-US" dirty="0">
                <a:solidFill>
                  <a:srgbClr val="FF0000"/>
                </a:solidFill>
              </a:rPr>
              <a:t>True</a:t>
            </a:r>
            <a:r>
              <a:rPr lang="en-US" dirty="0"/>
              <a:t>) </a:t>
            </a:r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A0025AAF-7437-411A-9DBB-80F8F7D3B326}"/>
              </a:ext>
            </a:extLst>
          </p:cNvPr>
          <p:cNvSpPr txBox="1">
            <a:spLocks/>
          </p:cNvSpPr>
          <p:nvPr/>
        </p:nvSpPr>
        <p:spPr>
          <a:xfrm>
            <a:off x="1973177" y="5089355"/>
            <a:ext cx="9304421" cy="15821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dirty="0" err="1"/>
              <a:t>prm</a:t>
            </a:r>
            <a:r>
              <a:rPr lang="en-US" dirty="0"/>
              <a:t> = parameters[</a:t>
            </a:r>
            <a:r>
              <a:rPr lang="en-US" dirty="0">
                <a:solidFill>
                  <a:srgbClr val="FF0000"/>
                </a:solidFill>
              </a:rPr>
              <a:t>"</a:t>
            </a:r>
            <a:r>
              <a:rPr lang="en-US" dirty="0" err="1">
                <a:solidFill>
                  <a:srgbClr val="FF0000"/>
                </a:solidFill>
              </a:rPr>
              <a:t>krylov_solver</a:t>
            </a:r>
            <a:r>
              <a:rPr lang="en-US" dirty="0">
                <a:solidFill>
                  <a:srgbClr val="FF0000"/>
                </a:solidFill>
              </a:rPr>
              <a:t>"</a:t>
            </a:r>
            <a:r>
              <a:rPr lang="en-US" dirty="0"/>
              <a:t>] </a:t>
            </a:r>
            <a:endParaRPr lang="ru-RU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dirty="0" err="1"/>
              <a:t>prm</a:t>
            </a:r>
            <a:r>
              <a:rPr lang="en-US" dirty="0"/>
              <a:t>[</a:t>
            </a:r>
            <a:r>
              <a:rPr lang="en-US" dirty="0">
                <a:solidFill>
                  <a:srgbClr val="FF0000"/>
                </a:solidFill>
              </a:rPr>
              <a:t>"</a:t>
            </a:r>
            <a:r>
              <a:rPr lang="en-US" dirty="0" err="1">
                <a:solidFill>
                  <a:srgbClr val="FF0000"/>
                </a:solidFill>
              </a:rPr>
              <a:t>absolute_tolerance</a:t>
            </a:r>
            <a:r>
              <a:rPr lang="en-US" dirty="0">
                <a:solidFill>
                  <a:srgbClr val="FF0000"/>
                </a:solidFill>
              </a:rPr>
              <a:t>"</a:t>
            </a:r>
            <a:r>
              <a:rPr lang="en-US" dirty="0"/>
              <a:t>] = 1E-10</a:t>
            </a:r>
            <a:endParaRPr lang="ru-RU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dirty="0" err="1"/>
              <a:t>prm</a:t>
            </a:r>
            <a:r>
              <a:rPr lang="en-US" dirty="0"/>
              <a:t>[</a:t>
            </a:r>
            <a:r>
              <a:rPr lang="en-US" dirty="0">
                <a:solidFill>
                  <a:srgbClr val="FF0000"/>
                </a:solidFill>
              </a:rPr>
              <a:t>"</a:t>
            </a:r>
            <a:r>
              <a:rPr lang="en-US" dirty="0" err="1">
                <a:solidFill>
                  <a:srgbClr val="FF0000"/>
                </a:solidFill>
              </a:rPr>
              <a:t>relative_tolerance</a:t>
            </a:r>
            <a:r>
              <a:rPr lang="en-US" dirty="0"/>
              <a:t>"] = 1E-6 </a:t>
            </a:r>
            <a:endParaRPr lang="ru-RU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dirty="0" err="1"/>
              <a:t>prm</a:t>
            </a:r>
            <a:r>
              <a:rPr lang="en-US" dirty="0"/>
              <a:t>[</a:t>
            </a:r>
            <a:r>
              <a:rPr lang="en-US" dirty="0">
                <a:solidFill>
                  <a:srgbClr val="FF0000"/>
                </a:solidFill>
              </a:rPr>
              <a:t>"</a:t>
            </a:r>
            <a:r>
              <a:rPr lang="en-US" dirty="0" err="1">
                <a:solidFill>
                  <a:srgbClr val="FF0000"/>
                </a:solidFill>
              </a:rPr>
              <a:t>maximum_iterations</a:t>
            </a:r>
            <a:r>
              <a:rPr lang="en-US" dirty="0">
                <a:solidFill>
                  <a:srgbClr val="FF0000"/>
                </a:solidFill>
              </a:rPr>
              <a:t>"</a:t>
            </a:r>
            <a:r>
              <a:rPr lang="en-US" dirty="0"/>
              <a:t>] = 1000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1192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Критерий остановки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315426-518B-42C3-AE07-5BBDC6ECE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207751" cy="4050792"/>
          </a:xfrm>
        </p:spPr>
        <p:txBody>
          <a:bodyPr>
            <a:normAutofit/>
          </a:bodyPr>
          <a:lstStyle/>
          <a:p>
            <a:pPr marL="274320" lvl="1" indent="0">
              <a:buNone/>
            </a:pPr>
            <a:r>
              <a:rPr lang="ru-RU" sz="2000" dirty="0"/>
              <a:t>Чтобы увидеть количество фактических итераций для достижения критерия остановки, мы можем вставить</a:t>
            </a:r>
          </a:p>
          <a:p>
            <a:pPr marL="274320" lvl="1" indent="0">
              <a:buNone/>
            </a:pPr>
            <a:endParaRPr lang="ru-RU" dirty="0"/>
          </a:p>
          <a:p>
            <a:pPr marL="274320" lvl="1" indent="0">
              <a:buNone/>
            </a:pPr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51881DA-AE0C-4EE6-B621-7CD76CF2412B}"/>
              </a:ext>
            </a:extLst>
          </p:cNvPr>
          <p:cNvSpPr txBox="1">
            <a:spLocks/>
          </p:cNvSpPr>
          <p:nvPr/>
        </p:nvSpPr>
        <p:spPr>
          <a:xfrm>
            <a:off x="1817731" y="2880038"/>
            <a:ext cx="9304421" cy="1097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dirty="0" err="1"/>
              <a:t>set_log_level</a:t>
            </a:r>
            <a:r>
              <a:rPr lang="en-US" dirty="0"/>
              <a:t>(PROGRESS)</a:t>
            </a:r>
            <a:endParaRPr lang="ru-RU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dirty="0"/>
              <a:t># or </a:t>
            </a:r>
            <a:endParaRPr lang="ru-RU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dirty="0" err="1"/>
              <a:t>set_log_level</a:t>
            </a:r>
            <a:r>
              <a:rPr lang="en-US" dirty="0"/>
              <a:t>(DEBUG)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3605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Синтаксис вызова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315426-518B-42C3-AE07-5BBDC6ECE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207751" cy="4050792"/>
          </a:xfrm>
        </p:spPr>
        <p:txBody>
          <a:bodyPr>
            <a:noAutofit/>
          </a:bodyPr>
          <a:lstStyle/>
          <a:p>
            <a:pPr marL="274320" lvl="1" indent="0">
              <a:buNone/>
            </a:pPr>
            <a:r>
              <a:rPr lang="ru-RU" sz="2000" dirty="0"/>
              <a:t>Вызов решения (a == L, u, </a:t>
            </a:r>
            <a:r>
              <a:rPr lang="ru-RU" sz="2000" dirty="0" err="1"/>
              <a:t>bc</a:t>
            </a:r>
            <a:r>
              <a:rPr lang="ru-RU" sz="2000" dirty="0"/>
              <a:t>) — это всего лишь компактная синтаксическая альтернатива несколько более полной спецификации уравнения в вариациях и решения соответствующей линейной системы.</a:t>
            </a:r>
            <a:r>
              <a:rPr lang="en-US" sz="2000" dirty="0"/>
              <a:t> </a:t>
            </a:r>
            <a:r>
              <a:rPr lang="ru-RU" sz="2000" dirty="0"/>
              <a:t>Будем использовать следующий синтаксис для вызова решения:</a:t>
            </a:r>
          </a:p>
          <a:p>
            <a:pPr marL="274320" lvl="1" indent="0">
              <a:buNone/>
            </a:pPr>
            <a:endParaRPr lang="en-US" sz="2000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3C05DB2-B592-47FC-BD79-C9A2999EF825}"/>
              </a:ext>
            </a:extLst>
          </p:cNvPr>
          <p:cNvSpPr txBox="1">
            <a:spLocks/>
          </p:cNvSpPr>
          <p:nvPr/>
        </p:nvSpPr>
        <p:spPr>
          <a:xfrm>
            <a:off x="1521512" y="3408947"/>
            <a:ext cx="4157393" cy="3308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dirty="0"/>
              <a:t>u = Function(V)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dirty="0"/>
              <a:t>U = </a:t>
            </a:r>
            <a:r>
              <a:rPr lang="en-US" dirty="0" err="1"/>
              <a:t>u.vector</a:t>
            </a:r>
            <a:r>
              <a:rPr lang="en-US" dirty="0"/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dirty="0"/>
              <a:t>A = assemble(a)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dirty="0"/>
              <a:t>b = assemble(L)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dirty="0"/>
              <a:t>for </a:t>
            </a:r>
            <a:r>
              <a:rPr lang="en-US" dirty="0" err="1"/>
              <a:t>bc</a:t>
            </a:r>
            <a:r>
              <a:rPr lang="en-US" dirty="0"/>
              <a:t> in </a:t>
            </a:r>
            <a:r>
              <a:rPr lang="en-US" dirty="0" err="1"/>
              <a:t>bcs</a:t>
            </a:r>
            <a:r>
              <a:rPr lang="en-US" dirty="0"/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dirty="0"/>
              <a:t>    </a:t>
            </a:r>
            <a:r>
              <a:rPr lang="en-US" dirty="0" err="1"/>
              <a:t>bc.apply</a:t>
            </a:r>
            <a:r>
              <a:rPr lang="en-US" dirty="0"/>
              <a:t>(A, b)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dirty="0"/>
              <a:t>solver = </a:t>
            </a:r>
            <a:r>
              <a:rPr lang="en-US" dirty="0" err="1"/>
              <a:t>KrylovSolver</a:t>
            </a:r>
            <a:r>
              <a:rPr lang="en-US" dirty="0"/>
              <a:t>('cg', '</a:t>
            </a:r>
            <a:r>
              <a:rPr lang="en-US" dirty="0" err="1"/>
              <a:t>ilu</a:t>
            </a:r>
            <a:r>
              <a:rPr lang="en-US" dirty="0"/>
              <a:t>') 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86AC69A9-3895-4E05-8BED-56FCE8215D77}"/>
              </a:ext>
            </a:extLst>
          </p:cNvPr>
          <p:cNvSpPr txBox="1">
            <a:spLocks/>
          </p:cNvSpPr>
          <p:nvPr/>
        </p:nvSpPr>
        <p:spPr>
          <a:xfrm>
            <a:off x="5939867" y="3408946"/>
            <a:ext cx="5182285" cy="3308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dirty="0" err="1"/>
              <a:t>cg_prm</a:t>
            </a:r>
            <a:r>
              <a:rPr lang="en-US" dirty="0"/>
              <a:t> = </a:t>
            </a:r>
            <a:r>
              <a:rPr lang="en-US" dirty="0" err="1"/>
              <a:t>solver.parameters</a:t>
            </a: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dirty="0" err="1"/>
              <a:t>cg_prm</a:t>
            </a:r>
            <a:r>
              <a:rPr lang="en-US" dirty="0"/>
              <a:t>["</a:t>
            </a:r>
            <a:r>
              <a:rPr lang="en-US" dirty="0" err="1"/>
              <a:t>absolute_tolerance</a:t>
            </a:r>
            <a:r>
              <a:rPr lang="en-US" dirty="0"/>
              <a:t>"] = 1E-7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dirty="0" err="1"/>
              <a:t>cg_prm</a:t>
            </a:r>
            <a:r>
              <a:rPr lang="en-US" dirty="0"/>
              <a:t>["</a:t>
            </a:r>
            <a:r>
              <a:rPr lang="en-US" dirty="0" err="1"/>
              <a:t>relative_tolerance</a:t>
            </a:r>
            <a:r>
              <a:rPr lang="en-US" dirty="0"/>
              <a:t>"] = 1E-4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dirty="0" err="1"/>
              <a:t>cg_prm</a:t>
            </a:r>
            <a:r>
              <a:rPr lang="en-US" dirty="0"/>
              <a:t>["</a:t>
            </a:r>
            <a:r>
              <a:rPr lang="en-US" dirty="0" err="1"/>
              <a:t>maximum_iterations</a:t>
            </a:r>
            <a:r>
              <a:rPr lang="en-US" dirty="0"/>
              <a:t>"] = 1000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dirty="0" err="1"/>
              <a:t>iter</a:t>
            </a:r>
            <a:r>
              <a:rPr lang="en-US" dirty="0"/>
              <a:t> = </a:t>
            </a:r>
            <a:r>
              <a:rPr lang="en-US" dirty="0" err="1"/>
              <a:t>solver.solve</a:t>
            </a:r>
            <a:r>
              <a:rPr lang="en-US" dirty="0"/>
              <a:t>(</a:t>
            </a:r>
            <a:r>
              <a:rPr lang="en-US" dirty="0" err="1"/>
              <a:t>A,U,b</a:t>
            </a:r>
            <a:r>
              <a:rPr lang="en-US" dirty="0"/>
              <a:t>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dirty="0"/>
              <a:t>info("</a:t>
            </a:r>
            <a:r>
              <a:rPr lang="en-US" dirty="0" err="1"/>
              <a:t>iter</a:t>
            </a:r>
            <a:r>
              <a:rPr lang="en-US" dirty="0"/>
              <a:t>=" + str(</a:t>
            </a:r>
            <a:r>
              <a:rPr lang="en-US" dirty="0" err="1"/>
              <a:t>iter</a:t>
            </a:r>
            <a:r>
              <a:rPr lang="en-US" dirty="0"/>
              <a:t>))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2940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Линейные решатели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315426-518B-42C3-AE07-5BBDC6ECE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207751" cy="4050792"/>
          </a:xfrm>
        </p:spPr>
        <p:txBody>
          <a:bodyPr>
            <a:noAutofit/>
          </a:bodyPr>
          <a:lstStyle/>
          <a:p>
            <a:pPr marL="274320" lvl="1" indent="0">
              <a:buNone/>
            </a:pPr>
            <a:r>
              <a:rPr lang="ru-RU" sz="2000" dirty="0"/>
              <a:t>В программах </a:t>
            </a:r>
            <a:r>
              <a:rPr lang="en-US" sz="2000" dirty="0" err="1"/>
              <a:t>FEniCS</a:t>
            </a:r>
            <a:r>
              <a:rPr lang="en-US" sz="2000" dirty="0"/>
              <a:t> </a:t>
            </a:r>
            <a:r>
              <a:rPr lang="ru-RU" sz="2000" dirty="0"/>
              <a:t>доступны следующие методы решения для линейных систем:</a:t>
            </a:r>
          </a:p>
          <a:p>
            <a:pPr marL="274320" lvl="1" indent="0">
              <a:buNone/>
            </a:pPr>
            <a:endParaRPr lang="en-US" sz="2000" dirty="0"/>
          </a:p>
          <a:p>
            <a:pPr marL="274320" lvl="1" indent="0">
              <a:buNone/>
            </a:pPr>
            <a:endParaRPr lang="en-US" sz="2000" dirty="0"/>
          </a:p>
          <a:p>
            <a:pPr marL="274320" lvl="1" indent="0">
              <a:buNone/>
            </a:pPr>
            <a:endParaRPr lang="ru-RU" sz="2000" dirty="0"/>
          </a:p>
          <a:p>
            <a:pPr marL="274320" lvl="1" indent="0" algn="ctr">
              <a:buNone/>
            </a:pPr>
            <a:r>
              <a:rPr lang="ru-RU" sz="2000" dirty="0"/>
              <a:t> </a:t>
            </a:r>
            <a:endParaRPr lang="en-US" sz="2000" dirty="0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69147D64-483F-4575-9C46-A20465D48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901070"/>
              </p:ext>
            </p:extLst>
          </p:nvPr>
        </p:nvGraphicFramePr>
        <p:xfrm>
          <a:off x="3511326" y="2739724"/>
          <a:ext cx="5324793" cy="3962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0793">
                  <a:extLst>
                    <a:ext uri="{9D8B030D-6E8A-4147-A177-3AD203B41FA5}">
                      <a16:colId xmlns:a16="http://schemas.microsoft.com/office/drawing/2014/main" val="392180981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613419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Синтаксис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Название метода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023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lu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Разреженная </a:t>
                      </a:r>
                      <a:r>
                        <a:rPr lang="en-US" sz="1600" dirty="0"/>
                        <a:t>LU</a:t>
                      </a:r>
                      <a:r>
                        <a:rPr lang="ru-RU" sz="1600" dirty="0"/>
                        <a:t> факторизация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857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cholesky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Разреженная факторизация </a:t>
                      </a:r>
                      <a:r>
                        <a:rPr lang="ru-RU" sz="1600" dirty="0" err="1"/>
                        <a:t>Холецкого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345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cg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Метод сопряженных градиентов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262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gmres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Обобщенный метод минимальных невязок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164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bicgstab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err="1"/>
                        <a:t>Бисопряженный</a:t>
                      </a:r>
                      <a:r>
                        <a:rPr lang="ru-RU" sz="1600" dirty="0"/>
                        <a:t> градиентно-стабилизированный метод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131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minres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Минимальный остаточный метод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875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tfqmr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Метод </a:t>
                      </a:r>
                      <a:r>
                        <a:rPr lang="ru-RU" sz="1600" dirty="0" err="1"/>
                        <a:t>квазиминимальных</a:t>
                      </a:r>
                      <a:r>
                        <a:rPr lang="ru-RU" sz="1600" dirty="0"/>
                        <a:t> невязок без транспонирования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926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richardson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Метод Ричардсона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482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747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7" y="153844"/>
            <a:ext cx="10058400" cy="1609344"/>
          </a:xfrm>
        </p:spPr>
        <p:txBody>
          <a:bodyPr/>
          <a:lstStyle/>
          <a:p>
            <a:pPr algn="ctr"/>
            <a:r>
              <a:rPr lang="ru-RU" dirty="0" err="1"/>
              <a:t>Предобуславливатели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315426-518B-42C3-AE07-5BBDC6ECE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7" y="1403604"/>
            <a:ext cx="10207751" cy="4050792"/>
          </a:xfrm>
        </p:spPr>
        <p:txBody>
          <a:bodyPr>
            <a:noAutofit/>
          </a:bodyPr>
          <a:lstStyle/>
          <a:p>
            <a:pPr marL="274320" lvl="1" indent="0">
              <a:buNone/>
            </a:pPr>
            <a:r>
              <a:rPr lang="ru-RU" sz="2000" dirty="0"/>
              <a:t>В программах </a:t>
            </a:r>
            <a:r>
              <a:rPr lang="en-US" sz="2000" dirty="0" err="1"/>
              <a:t>FEniCS</a:t>
            </a:r>
            <a:r>
              <a:rPr lang="en-US" sz="2000" dirty="0"/>
              <a:t> </a:t>
            </a:r>
            <a:r>
              <a:rPr lang="ru-RU" sz="2000" dirty="0"/>
              <a:t>доступны следующие </a:t>
            </a:r>
            <a:r>
              <a:rPr lang="ru-RU" sz="2000" dirty="0" err="1"/>
              <a:t>предобуславливатели</a:t>
            </a:r>
            <a:r>
              <a:rPr lang="ru-RU" sz="2000" dirty="0"/>
              <a:t>:</a:t>
            </a:r>
          </a:p>
          <a:p>
            <a:pPr marL="274320" lvl="1" indent="0">
              <a:buNone/>
            </a:pPr>
            <a:endParaRPr lang="en-US" sz="2000" dirty="0"/>
          </a:p>
          <a:p>
            <a:pPr marL="274320" lvl="1" indent="0">
              <a:buNone/>
            </a:pPr>
            <a:endParaRPr lang="en-US" sz="2000" dirty="0"/>
          </a:p>
          <a:p>
            <a:pPr marL="274320" lvl="1" indent="0">
              <a:buNone/>
            </a:pPr>
            <a:endParaRPr lang="ru-RU" sz="2000" dirty="0"/>
          </a:p>
          <a:p>
            <a:pPr marL="274320" lvl="1" indent="0" algn="ctr">
              <a:buNone/>
            </a:pPr>
            <a:r>
              <a:rPr lang="ru-RU" sz="2000" dirty="0"/>
              <a:t> </a:t>
            </a:r>
            <a:endParaRPr lang="en-US" sz="2000" dirty="0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69147D64-483F-4575-9C46-A20465D48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686959"/>
              </p:ext>
            </p:extLst>
          </p:nvPr>
        </p:nvGraphicFramePr>
        <p:xfrm>
          <a:off x="1232566" y="1883236"/>
          <a:ext cx="9882311" cy="482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71042">
                  <a:extLst>
                    <a:ext uri="{9D8B030D-6E8A-4147-A177-3AD203B41FA5}">
                      <a16:colId xmlns:a16="http://schemas.microsoft.com/office/drawing/2014/main" val="3921809818"/>
                    </a:ext>
                  </a:extLst>
                </a:gridCol>
                <a:gridCol w="7611269">
                  <a:extLst>
                    <a:ext uri="{9D8B030D-6E8A-4147-A177-3AD203B41FA5}">
                      <a16:colId xmlns:a16="http://schemas.microsoft.com/office/drawing/2014/main" val="3613419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Синтаксис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Название метода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023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none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Без </a:t>
                      </a:r>
                      <a:r>
                        <a:rPr lang="ru-RU" sz="1600" dirty="0" err="1"/>
                        <a:t>предобуславливателя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857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ilu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Неполная факторизация </a:t>
                      </a:r>
                      <a:r>
                        <a:rPr lang="en-US" sz="1600" dirty="0"/>
                        <a:t>LU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345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icc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Неполная факторизация </a:t>
                      </a:r>
                      <a:r>
                        <a:rPr lang="ru-RU" sz="1600" dirty="0" err="1"/>
                        <a:t>Холецкого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262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jacobi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Итерация Якоби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164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bjacobi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Блочная итерация Якоби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131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sor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Метод релаксации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875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amg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Алгебраическая многосеточная система (</a:t>
                      </a:r>
                      <a:r>
                        <a:rPr lang="ru-RU" sz="1600" dirty="0" err="1"/>
                        <a:t>BoomerAMG</a:t>
                      </a:r>
                      <a:r>
                        <a:rPr lang="ru-RU" sz="1600" dirty="0"/>
                        <a:t> или ML)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926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additive_schwarz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Аддитивный Шварц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482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hypre_amg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Алгебраическая многосеточная система </a:t>
                      </a:r>
                      <a:r>
                        <a:rPr lang="ru-RU" sz="1600" dirty="0" err="1"/>
                        <a:t>Hypre</a:t>
                      </a:r>
                      <a:r>
                        <a:rPr lang="ru-RU" sz="1600" dirty="0"/>
                        <a:t> (</a:t>
                      </a:r>
                      <a:r>
                        <a:rPr lang="ru-RU" sz="1600" dirty="0" err="1"/>
                        <a:t>BoomerAMG</a:t>
                      </a:r>
                      <a:r>
                        <a:rPr lang="ru-RU" sz="16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315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hypre_euclid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err="1"/>
                        <a:t>Hypre</a:t>
                      </a:r>
                      <a:r>
                        <a:rPr lang="ru-RU" sz="1600" dirty="0"/>
                        <a:t> параллельная неполная факторизация LU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555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hypre_parasails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err="1"/>
                        <a:t>Гипрепараллельный</a:t>
                      </a:r>
                      <a:r>
                        <a:rPr lang="ru-RU" sz="1600" dirty="0"/>
                        <a:t> разреженный приближенный обратный </a:t>
                      </a:r>
                      <a:r>
                        <a:rPr lang="ru-RU" sz="1600" dirty="0" err="1"/>
                        <a:t>метлж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05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Ml_amg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ML </a:t>
                      </a:r>
                      <a:r>
                        <a:rPr lang="ru-RU" sz="1600" dirty="0"/>
                        <a:t>алгебраическая многосеточная система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772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402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Список доступных решателей и </a:t>
            </a:r>
            <a:r>
              <a:rPr lang="ru-RU" dirty="0" err="1"/>
              <a:t>предобуславливателей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315426-518B-42C3-AE07-5BBDC6ECE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207751" cy="4050792"/>
          </a:xfrm>
        </p:spPr>
        <p:txBody>
          <a:bodyPr>
            <a:noAutofit/>
          </a:bodyPr>
          <a:lstStyle/>
          <a:p>
            <a:pPr marL="274320" lvl="1" indent="0">
              <a:buNone/>
            </a:pPr>
            <a:r>
              <a:rPr lang="ru-RU" sz="2000" dirty="0"/>
              <a:t>Многие из перечисленных выше вариантов предлагаются только определенным </a:t>
            </a:r>
            <a:r>
              <a:rPr lang="ru-RU" sz="2000" dirty="0" err="1"/>
              <a:t>бэкэндом</a:t>
            </a:r>
            <a:r>
              <a:rPr lang="ru-RU" sz="2000" dirty="0"/>
              <a:t>, поэтому настройка </a:t>
            </a:r>
            <a:r>
              <a:rPr lang="ru-RU" sz="2000" dirty="0" err="1"/>
              <a:t>бэкендасоответственно</a:t>
            </a:r>
            <a:r>
              <a:rPr lang="ru-RU" sz="2000" dirty="0"/>
              <a:t> необходимо для возможности выбора желаемого линейного решателя или </a:t>
            </a:r>
            <a:r>
              <a:rPr lang="ru-RU" sz="2000" dirty="0" err="1"/>
              <a:t>предобуславливателя.Актуальный</a:t>
            </a:r>
            <a:r>
              <a:rPr lang="ru-RU" sz="2000" dirty="0"/>
              <a:t> список доступных решателей и </a:t>
            </a:r>
            <a:r>
              <a:rPr lang="ru-RU" sz="2000" dirty="0" err="1"/>
              <a:t>предобуславливателей</a:t>
            </a:r>
            <a:r>
              <a:rPr lang="ru-RU" sz="2000" dirty="0"/>
              <a:t> в </a:t>
            </a:r>
            <a:r>
              <a:rPr lang="ru-RU" sz="2000" dirty="0" err="1"/>
              <a:t>FEniCS</a:t>
            </a:r>
            <a:r>
              <a:rPr lang="ru-RU" sz="2000" dirty="0"/>
              <a:t> может быть создан через:</a:t>
            </a:r>
          </a:p>
          <a:p>
            <a:pPr marL="274320" lvl="1" indent="0">
              <a:buNone/>
            </a:pPr>
            <a:endParaRPr lang="en-US" sz="2000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4641B2F-C839-42FB-B99B-A33F7DB572F4}"/>
              </a:ext>
            </a:extLst>
          </p:cNvPr>
          <p:cNvSpPr txBox="1">
            <a:spLocks/>
          </p:cNvSpPr>
          <p:nvPr/>
        </p:nvSpPr>
        <p:spPr>
          <a:xfrm>
            <a:off x="1521512" y="3833983"/>
            <a:ext cx="9304421" cy="9946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dirty="0" err="1"/>
              <a:t>list_linear_solver_methods</a:t>
            </a:r>
            <a:r>
              <a:rPr lang="en-US" dirty="0"/>
              <a:t>()</a:t>
            </a:r>
            <a:endParaRPr lang="ru-RU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dirty="0" err="1"/>
              <a:t>list_krylov_solver_preconditioners</a:t>
            </a:r>
            <a:r>
              <a:rPr lang="en-US" dirty="0"/>
              <a:t>()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034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Задания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3752" y="1960987"/>
                <a:ext cx="10336089" cy="4050792"/>
              </a:xfrm>
            </p:spPr>
            <p:txBody>
              <a:bodyPr>
                <a:normAutofit fontScale="92500" lnSpcReduction="20000"/>
              </a:bodyPr>
              <a:lstStyle/>
              <a:p>
                <a:pPr marL="457200" indent="-457200">
                  <a:lnSpc>
                    <a:spcPct val="120000"/>
                  </a:lnSpc>
                  <a:buAutoNum type="arabicPeriod"/>
                </a:pPr>
                <a:r>
                  <a:rPr lang="ru-RU" sz="2800" dirty="0"/>
                  <a:t>Постройте любую трехмерную геометрическую сетку с метками границ. </a:t>
                </a:r>
                <a:r>
                  <a:rPr lang="ru-RU" sz="2800"/>
                  <a:t>Не повторяться!!!</a:t>
                </a:r>
                <a:endParaRPr lang="ru-RU" sz="2800" dirty="0"/>
              </a:p>
              <a:p>
                <a:pPr marL="457200" indent="-457200">
                  <a:lnSpc>
                    <a:spcPct val="120000"/>
                  </a:lnSpc>
                  <a:buAutoNum type="arabicPeriod"/>
                </a:pPr>
                <a:r>
                  <a:rPr lang="ru-RU" sz="2800" dirty="0"/>
                  <a:t>Для построенной геометрической области решите следующее уравнение с разными линейными решателями и </a:t>
                </a:r>
                <a:r>
                  <a:rPr lang="ru-RU" sz="2800" dirty="0" err="1"/>
                  <a:t>предобуславливателями</a:t>
                </a:r>
                <a:r>
                  <a:rPr lang="ru-RU" sz="2800" dirty="0"/>
                  <a:t>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ru-RU" sz="2800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 startAt="3"/>
                </a:pPr>
                <a:r>
                  <a:rPr lang="ru-RU" sz="2800" dirty="0"/>
                  <a:t>Создайте таблицу, в которой заполните количество итераций для каждого метода и </a:t>
                </a:r>
                <a:r>
                  <a:rPr lang="ru-RU" sz="2800" dirty="0" err="1"/>
                  <a:t>предобуславливателя</a:t>
                </a:r>
                <a:r>
                  <a:rPr lang="ru-RU" sz="2800" dirty="0"/>
                  <a:t> и время решения программы.</a:t>
                </a:r>
                <a:endParaRPr lang="en-US" sz="2800" dirty="0"/>
              </a:p>
              <a:p>
                <a:pPr marL="0" indent="0" algn="ctr">
                  <a:lnSpc>
                    <a:spcPct val="120000"/>
                  </a:lnSpc>
                  <a:buNone/>
                </a:pPr>
                <a:endParaRPr lang="ru-RU" sz="2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3752" y="1960987"/>
                <a:ext cx="10336089" cy="4050792"/>
              </a:xfrm>
              <a:blipFill>
                <a:blip r:embed="rId2"/>
                <a:stretch>
                  <a:fillRect l="-708" t="-1506" r="-1829" b="-36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9382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Варианты уравнений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3752" y="1960987"/>
                <a:ext cx="10727195" cy="4050792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dirty="0"/>
                  <a:t>1) Для оператора диффузии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∇u</m:t>
                        </m:r>
                      </m:e>
                    </m:d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=0.1,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8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dirty="0"/>
                  <a:t>2</a:t>
                </a:r>
                <a:r>
                  <a:rPr lang="en-US" sz="2800" dirty="0"/>
                  <a:t>) </a:t>
                </a:r>
                <a:r>
                  <a:rPr lang="ru-RU" sz="2800" dirty="0"/>
                  <a:t>Для оператора диффузии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∇u</m:t>
                        </m:r>
                      </m:e>
                    </m:d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=7,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dirty="0"/>
                  <a:t>3</a:t>
                </a:r>
                <a:r>
                  <a:rPr lang="en-US" sz="2800" dirty="0"/>
                  <a:t>) </a:t>
                </a:r>
                <a:r>
                  <a:rPr lang="ru-RU" sz="2800" dirty="0"/>
                  <a:t>Для оператора диффузии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∇u</m:t>
                        </m:r>
                      </m:e>
                    </m:d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=80,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dirty="0"/>
                  <a:t>4</a:t>
                </a:r>
                <a:r>
                  <a:rPr lang="en-US" sz="2800" dirty="0"/>
                  <a:t>) </a:t>
                </a:r>
                <a:r>
                  <a:rPr lang="ru-RU" sz="2800" dirty="0"/>
                  <a:t>Для оператора диффузии</a:t>
                </a:r>
                <a:r>
                  <a:rPr lang="en-US" sz="2800" dirty="0"/>
                  <a:t>-</a:t>
                </a:r>
                <a:r>
                  <a:rPr lang="ru-RU" sz="2800" dirty="0"/>
                  <a:t>реакции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∇u</m:t>
                        </m:r>
                      </m:e>
                    </m:d>
                    <m:r>
                      <a:rPr lang="ru-RU" sz="28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ru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=20,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dirty="0"/>
                  <a:t>5</a:t>
                </a:r>
                <a:r>
                  <a:rPr lang="en-US" sz="2800" dirty="0"/>
                  <a:t>) </a:t>
                </a:r>
                <a:r>
                  <a:rPr lang="ru-RU" sz="2800" dirty="0"/>
                  <a:t>Для оператора диффузии</a:t>
                </a:r>
                <a:r>
                  <a:rPr lang="en-US" sz="2800" dirty="0"/>
                  <a:t>-</a:t>
                </a:r>
                <a:r>
                  <a:rPr lang="ru-RU" sz="2800" dirty="0"/>
                  <a:t>реакции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∇u</m:t>
                        </m:r>
                      </m:e>
                    </m:d>
                    <m:r>
                      <a:rPr lang="ru-RU" sz="28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ru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=7, 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=0.1,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dirty="0"/>
                  <a:t>6</a:t>
                </a:r>
                <a:r>
                  <a:rPr lang="en-US" sz="2800" dirty="0"/>
                  <a:t>) </a:t>
                </a:r>
                <a:r>
                  <a:rPr lang="ru-RU" sz="2800" dirty="0"/>
                  <a:t>Для оператора диффузии</a:t>
                </a:r>
                <a:r>
                  <a:rPr lang="en-US" sz="2800" dirty="0"/>
                  <a:t>-</a:t>
                </a:r>
                <a:r>
                  <a:rPr lang="ru-RU" sz="2800" dirty="0"/>
                  <a:t>реакции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∇u</m:t>
                        </m:r>
                      </m:e>
                    </m:d>
                    <m:r>
                      <a:rPr lang="ru-RU" sz="28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ru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=50, 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=3,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dirty="0"/>
                  <a:t>7</a:t>
                </a:r>
                <a:r>
                  <a:rPr lang="en-US" sz="2800" dirty="0"/>
                  <a:t>)</a:t>
                </a:r>
                <a:r>
                  <a:rPr lang="ru-RU" sz="2800" dirty="0"/>
                  <a:t> Для оператора диффузии</a:t>
                </a:r>
                <a:r>
                  <a:rPr lang="en-US" sz="2800" dirty="0"/>
                  <a:t>-</a:t>
                </a:r>
                <a:r>
                  <a:rPr lang="ru-RU" sz="2800" dirty="0"/>
                  <a:t>реакции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∇u</m:t>
                        </m:r>
                      </m:e>
                    </m:d>
                    <m:r>
                      <a:rPr lang="ru-RU" sz="28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ru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=0.5, 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=0.1,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3752" y="1960987"/>
                <a:ext cx="10727195" cy="4050792"/>
              </a:xfrm>
              <a:blipFill>
                <a:blip r:embed="rId2"/>
                <a:stretch>
                  <a:fillRect l="-739" t="-12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2441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351643"/>
            <a:ext cx="10058400" cy="1609344"/>
          </a:xfrm>
        </p:spPr>
        <p:txBody>
          <a:bodyPr/>
          <a:lstStyle/>
          <a:p>
            <a:pPr algn="ctr"/>
            <a:r>
              <a:rPr lang="ru-RU" dirty="0"/>
              <a:t>Варианты граничных условий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3752" y="1960987"/>
                <a:ext cx="10727195" cy="4050792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dirty="0"/>
                  <a:t>1) </a:t>
                </a:r>
                <a:r>
                  <a:rPr lang="ru-RU" sz="2800" b="0" dirty="0"/>
                  <a:t>слева сбоку задать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sz="2800" b="0" dirty="0"/>
                  <a:t> </a:t>
                </a:r>
                <a:r>
                  <a:rPr lang="ru-RU" sz="2800" b="0" dirty="0"/>
                  <a:t>и </a:t>
                </a:r>
                <a:r>
                  <a:rPr lang="ru-RU" sz="2800" dirty="0"/>
                  <a:t>справа сбоку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8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dirty="0"/>
                  <a:t>2</a:t>
                </a:r>
                <a:r>
                  <a:rPr lang="en-US" sz="2800" dirty="0"/>
                  <a:t>) </a:t>
                </a:r>
                <a:r>
                  <a:rPr lang="ru-RU" sz="2800" dirty="0"/>
                  <a:t>слева сбоку задать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и справа сбоку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dirty="0"/>
                  <a:t>3</a:t>
                </a:r>
                <a:r>
                  <a:rPr lang="en-US" sz="2800" dirty="0"/>
                  <a:t>) </a:t>
                </a:r>
                <a:r>
                  <a:rPr lang="ru-RU" sz="2800" dirty="0"/>
                  <a:t>слева сбоку задать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и справа сбоку </a:t>
                </a:r>
                <a14:m>
                  <m:oMath xmlns:m="http://schemas.openxmlformats.org/officeDocument/2006/math">
                    <m:r>
                      <a:rPr lang="ru-RU" sz="28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dirty="0"/>
                  <a:t>4</a:t>
                </a:r>
                <a:r>
                  <a:rPr lang="en-US" sz="2800" dirty="0"/>
                  <a:t>) </a:t>
                </a:r>
                <a:r>
                  <a:rPr lang="ru-RU" sz="2800" dirty="0"/>
                  <a:t>слева сбоку задать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и справа сбоку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dirty="0"/>
                  <a:t>5</a:t>
                </a:r>
                <a:r>
                  <a:rPr lang="en-US" sz="2800" dirty="0"/>
                  <a:t>) </a:t>
                </a:r>
                <a:r>
                  <a:rPr lang="ru-RU" sz="2800" dirty="0"/>
                  <a:t>слева сбоку задать</a:t>
                </a:r>
                <a14:m>
                  <m:oMath xmlns:m="http://schemas.openxmlformats.org/officeDocument/2006/math">
                    <m:r>
                      <a:rPr lang="ru-RU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8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𝑘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и справа сбоку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dirty="0"/>
                  <a:t>6</a:t>
                </a:r>
                <a:r>
                  <a:rPr lang="en-US" sz="2800" dirty="0"/>
                  <a:t>) </a:t>
                </a:r>
                <a:r>
                  <a:rPr lang="ru-RU" sz="2800" dirty="0"/>
                  <a:t>слева сбоку задать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и справа сбоку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8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𝑘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28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dirty="0"/>
                  <a:t>7</a:t>
                </a:r>
                <a:r>
                  <a:rPr lang="en-US" sz="2800" dirty="0"/>
                  <a:t>)</a:t>
                </a:r>
                <a:r>
                  <a:rPr lang="ru-RU" sz="2800" dirty="0"/>
                  <a:t> слева сбоку задать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и справа сбоку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3752" y="1960987"/>
                <a:ext cx="10727195" cy="4050792"/>
              </a:xfrm>
              <a:blipFill>
                <a:blip r:embed="rId2"/>
                <a:stretch>
                  <a:fillRect l="-739" t="-12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8195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227958"/>
            <a:ext cx="10058400" cy="1609344"/>
          </a:xfrm>
        </p:spPr>
        <p:txBody>
          <a:bodyPr/>
          <a:lstStyle/>
          <a:p>
            <a:pPr algn="ctr"/>
            <a:r>
              <a:rPr lang="ru-RU" dirty="0"/>
              <a:t>Варианты методов и </a:t>
            </a:r>
            <a:r>
              <a:rPr lang="ru-RU" dirty="0" err="1"/>
              <a:t>предобуславливателей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315426-518B-42C3-AE07-5BBDC6ECE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1960986"/>
            <a:ext cx="5593722" cy="466905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/>
              <a:t>1) Методы: </a:t>
            </a:r>
            <a:r>
              <a:rPr lang="en-US" sz="1800" dirty="0" err="1"/>
              <a:t>lu</a:t>
            </a:r>
            <a:r>
              <a:rPr lang="en-US" sz="1800" dirty="0"/>
              <a:t>, cg, </a:t>
            </a:r>
            <a:r>
              <a:rPr lang="en-US" sz="1800" dirty="0" err="1"/>
              <a:t>gmres</a:t>
            </a:r>
            <a:r>
              <a:rPr lang="en-US" sz="1800" dirty="0"/>
              <a:t>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dirty="0"/>
              <a:t>    </a:t>
            </a:r>
            <a:r>
              <a:rPr lang="ru-RU" sz="1800" dirty="0" err="1"/>
              <a:t>Предобуславливатели</a:t>
            </a:r>
            <a:r>
              <a:rPr lang="ru-RU" sz="1800" dirty="0"/>
              <a:t>: </a:t>
            </a:r>
            <a:r>
              <a:rPr lang="en-US" sz="1800" dirty="0"/>
              <a:t>none, </a:t>
            </a:r>
            <a:r>
              <a:rPr lang="en-US" sz="1800" dirty="0" err="1"/>
              <a:t>ilu</a:t>
            </a:r>
            <a:r>
              <a:rPr lang="en-US" sz="1800" dirty="0"/>
              <a:t>, </a:t>
            </a:r>
            <a:r>
              <a:rPr lang="en-US" sz="1800" dirty="0" err="1"/>
              <a:t>sor</a:t>
            </a:r>
            <a:r>
              <a:rPr lang="en-US" sz="1800" dirty="0"/>
              <a:t>, </a:t>
            </a:r>
            <a:r>
              <a:rPr lang="en-US" sz="1800" dirty="0" err="1"/>
              <a:t>amg</a:t>
            </a:r>
            <a:endParaRPr lang="ru-RU" sz="18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/>
              <a:t>2)</a:t>
            </a:r>
            <a:r>
              <a:rPr lang="en-US" sz="1800" dirty="0"/>
              <a:t> </a:t>
            </a:r>
            <a:r>
              <a:rPr lang="ru-RU" sz="1800" dirty="0"/>
              <a:t>Методы: </a:t>
            </a:r>
            <a:r>
              <a:rPr lang="en-US" sz="1800" dirty="0" err="1"/>
              <a:t>bicgstab</a:t>
            </a:r>
            <a:r>
              <a:rPr lang="en-US" sz="1800" dirty="0"/>
              <a:t>, </a:t>
            </a:r>
            <a:r>
              <a:rPr lang="en-US" sz="1800" dirty="0" err="1"/>
              <a:t>tfqmr</a:t>
            </a:r>
            <a:r>
              <a:rPr lang="en-US" sz="1800" dirty="0"/>
              <a:t>, </a:t>
            </a:r>
            <a:r>
              <a:rPr lang="en-US" sz="1800" dirty="0" err="1"/>
              <a:t>richardson</a:t>
            </a:r>
            <a:r>
              <a:rPr lang="en-US" sz="1800" dirty="0"/>
              <a:t>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dirty="0"/>
              <a:t>    </a:t>
            </a:r>
            <a:r>
              <a:rPr lang="ru-RU" sz="1800" dirty="0" err="1"/>
              <a:t>Предобуславливатели</a:t>
            </a:r>
            <a:r>
              <a:rPr lang="ru-RU" sz="1800" dirty="0"/>
              <a:t>: </a:t>
            </a:r>
            <a:r>
              <a:rPr lang="en-US" sz="1800" dirty="0"/>
              <a:t>none, tor, </a:t>
            </a:r>
            <a:r>
              <a:rPr lang="en-US" sz="1800" dirty="0" err="1"/>
              <a:t>jacobi</a:t>
            </a:r>
            <a:r>
              <a:rPr lang="en-US" sz="1800" dirty="0"/>
              <a:t>, </a:t>
            </a:r>
            <a:r>
              <a:rPr lang="en-US" sz="1800" dirty="0" err="1"/>
              <a:t>hypre_amg</a:t>
            </a:r>
            <a:endParaRPr lang="ru-RU" sz="18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/>
              <a:t>3) Методы: </a:t>
            </a:r>
            <a:r>
              <a:rPr lang="en-US" sz="1800" dirty="0" err="1"/>
              <a:t>cholesky</a:t>
            </a:r>
            <a:r>
              <a:rPr lang="en-US" sz="1800" dirty="0"/>
              <a:t>, </a:t>
            </a:r>
            <a:r>
              <a:rPr lang="en-US" sz="1800" dirty="0" err="1"/>
              <a:t>minres</a:t>
            </a:r>
            <a:r>
              <a:rPr lang="en-US" sz="1800" dirty="0"/>
              <a:t>, </a:t>
            </a:r>
            <a:r>
              <a:rPr lang="en-US" sz="1800" dirty="0" err="1"/>
              <a:t>gmres</a:t>
            </a:r>
            <a:r>
              <a:rPr lang="en-US" sz="1800" dirty="0"/>
              <a:t>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dirty="0"/>
              <a:t>    </a:t>
            </a:r>
            <a:r>
              <a:rPr lang="ru-RU" sz="1800" dirty="0" err="1"/>
              <a:t>Предобуславливатели</a:t>
            </a:r>
            <a:r>
              <a:rPr lang="ru-RU" sz="1800" dirty="0"/>
              <a:t>: </a:t>
            </a:r>
            <a:r>
              <a:rPr lang="en-US" sz="1800" dirty="0"/>
              <a:t>none, </a:t>
            </a:r>
            <a:r>
              <a:rPr lang="en-US" sz="1800" dirty="0" err="1"/>
              <a:t>icc</a:t>
            </a:r>
            <a:r>
              <a:rPr lang="en-US" sz="1800" dirty="0"/>
              <a:t>, </a:t>
            </a:r>
            <a:r>
              <a:rPr lang="en-US" sz="1800" dirty="0" err="1"/>
              <a:t>ilu</a:t>
            </a:r>
            <a:r>
              <a:rPr lang="en-US" sz="1800" dirty="0"/>
              <a:t>, </a:t>
            </a:r>
            <a:r>
              <a:rPr lang="en-US" sz="1800" dirty="0" err="1"/>
              <a:t>ml_amg</a:t>
            </a:r>
            <a:endParaRPr lang="ru-RU" sz="18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/>
              <a:t>4) Методы: </a:t>
            </a:r>
            <a:r>
              <a:rPr lang="en-US" sz="1800" dirty="0"/>
              <a:t>cg, </a:t>
            </a:r>
            <a:r>
              <a:rPr lang="en-US" sz="1800" dirty="0" err="1"/>
              <a:t>tfqmr</a:t>
            </a:r>
            <a:r>
              <a:rPr lang="en-US" sz="1800" dirty="0"/>
              <a:t>, </a:t>
            </a:r>
            <a:r>
              <a:rPr lang="en-US" sz="1800" dirty="0" err="1"/>
              <a:t>minres</a:t>
            </a:r>
            <a:endParaRPr lang="en-US" sz="18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dirty="0"/>
              <a:t>    </a:t>
            </a:r>
            <a:r>
              <a:rPr lang="ru-RU" sz="1800" dirty="0" err="1"/>
              <a:t>Предобуславливатели</a:t>
            </a:r>
            <a:r>
              <a:rPr lang="ru-RU" sz="1800" dirty="0"/>
              <a:t>: </a:t>
            </a:r>
            <a:r>
              <a:rPr lang="en-US" sz="1800" dirty="0"/>
              <a:t>none, </a:t>
            </a:r>
            <a:r>
              <a:rPr lang="en-US" sz="1800" dirty="0" err="1"/>
              <a:t>sor</a:t>
            </a:r>
            <a:r>
              <a:rPr lang="en-US" sz="1800" dirty="0"/>
              <a:t>, </a:t>
            </a:r>
            <a:r>
              <a:rPr lang="en-US" sz="1800" dirty="0" err="1"/>
              <a:t>additive_schwarz</a:t>
            </a:r>
            <a:r>
              <a:rPr lang="en-US" sz="1800" dirty="0"/>
              <a:t>, </a:t>
            </a:r>
            <a:r>
              <a:rPr lang="en-US" sz="1800" dirty="0" err="1"/>
              <a:t>hypre_euclid</a:t>
            </a:r>
            <a:endParaRPr lang="ru-RU" sz="1800" dirty="0"/>
          </a:p>
          <a:p>
            <a:pPr marL="0" indent="0">
              <a:lnSpc>
                <a:spcPct val="120000"/>
              </a:lnSpc>
              <a:buNone/>
            </a:pP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EF1B54-A7CB-4CD0-ACEC-15D277D96CC0}"/>
              </a:ext>
            </a:extLst>
          </p:cNvPr>
          <p:cNvSpPr txBox="1"/>
          <p:nvPr/>
        </p:nvSpPr>
        <p:spPr>
          <a:xfrm>
            <a:off x="6288503" y="1960986"/>
            <a:ext cx="5069306" cy="336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1800" dirty="0"/>
              <a:t>5) Методы: </a:t>
            </a:r>
            <a:r>
              <a:rPr lang="en-US" sz="1800" dirty="0" err="1"/>
              <a:t>lu</a:t>
            </a:r>
            <a:r>
              <a:rPr lang="en-US" sz="1800" dirty="0"/>
              <a:t>, </a:t>
            </a:r>
            <a:r>
              <a:rPr lang="en-US" sz="1800" dirty="0" err="1"/>
              <a:t>bicgstab</a:t>
            </a:r>
            <a:r>
              <a:rPr lang="en-US" sz="1800" dirty="0"/>
              <a:t>, </a:t>
            </a:r>
            <a:r>
              <a:rPr lang="en-US" sz="1800" dirty="0" err="1"/>
              <a:t>cholesky</a:t>
            </a:r>
            <a:r>
              <a:rPr lang="en-US" sz="1800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    </a:t>
            </a:r>
            <a:r>
              <a:rPr lang="ru-RU" sz="1800" dirty="0" err="1"/>
              <a:t>Предобуславливатели</a:t>
            </a:r>
            <a:r>
              <a:rPr lang="ru-RU" sz="1800" dirty="0"/>
              <a:t>: </a:t>
            </a:r>
            <a:r>
              <a:rPr lang="en-US" sz="1800" dirty="0"/>
              <a:t>none, </a:t>
            </a:r>
            <a:r>
              <a:rPr lang="en-US" sz="1800" dirty="0" err="1"/>
              <a:t>icc</a:t>
            </a:r>
            <a:r>
              <a:rPr lang="en-US" sz="1800" dirty="0"/>
              <a:t>, </a:t>
            </a:r>
            <a:r>
              <a:rPr lang="en-US" sz="1800" dirty="0" err="1"/>
              <a:t>ilu</a:t>
            </a:r>
            <a:r>
              <a:rPr lang="en-US" sz="1800" dirty="0"/>
              <a:t>, </a:t>
            </a:r>
            <a:r>
              <a:rPr lang="en-US" sz="1800" dirty="0" err="1"/>
              <a:t>hypre_parasails</a:t>
            </a:r>
            <a:endParaRPr lang="ru-RU" sz="1800" dirty="0"/>
          </a:p>
          <a:p>
            <a:pPr marL="0" indent="0">
              <a:lnSpc>
                <a:spcPct val="150000"/>
              </a:lnSpc>
              <a:buNone/>
            </a:pPr>
            <a:r>
              <a:rPr lang="ru-RU" sz="1800" dirty="0"/>
              <a:t>6) Методы: </a:t>
            </a:r>
            <a:r>
              <a:rPr lang="en-US" dirty="0" err="1"/>
              <a:t>gmres</a:t>
            </a:r>
            <a:r>
              <a:rPr lang="en-US" sz="1800" dirty="0"/>
              <a:t>, </a:t>
            </a:r>
            <a:r>
              <a:rPr lang="en-US" sz="1800" dirty="0" err="1"/>
              <a:t>richardson</a:t>
            </a:r>
            <a:r>
              <a:rPr lang="en-US" sz="1800" dirty="0"/>
              <a:t>, </a:t>
            </a:r>
            <a:r>
              <a:rPr lang="en-US" sz="1800" dirty="0" err="1"/>
              <a:t>lu</a:t>
            </a:r>
            <a:r>
              <a:rPr lang="en-US" sz="1800" dirty="0"/>
              <a:t> </a:t>
            </a:r>
            <a:r>
              <a:rPr lang="ru-RU" sz="1800" dirty="0" err="1"/>
              <a:t>Предобуславливатели</a:t>
            </a:r>
            <a:r>
              <a:rPr lang="ru-RU" sz="1800" dirty="0"/>
              <a:t>: </a:t>
            </a:r>
            <a:r>
              <a:rPr lang="en-US" sz="1800" dirty="0"/>
              <a:t>none, </a:t>
            </a:r>
            <a:r>
              <a:rPr lang="en-US" sz="1800" dirty="0" err="1"/>
              <a:t>ilu</a:t>
            </a:r>
            <a:r>
              <a:rPr lang="en-US" sz="1800" dirty="0"/>
              <a:t>, </a:t>
            </a:r>
            <a:r>
              <a:rPr lang="en-US" sz="1800" dirty="0" err="1"/>
              <a:t>sor</a:t>
            </a:r>
            <a:r>
              <a:rPr lang="en-US" sz="1800" dirty="0"/>
              <a:t>, </a:t>
            </a:r>
            <a:r>
              <a:rPr lang="en-US" sz="1800" dirty="0" err="1"/>
              <a:t>bjacobi</a:t>
            </a:r>
            <a:endParaRPr lang="ru-RU" sz="1800" dirty="0"/>
          </a:p>
          <a:p>
            <a:pPr marL="0" indent="0">
              <a:lnSpc>
                <a:spcPct val="150000"/>
              </a:lnSpc>
              <a:buNone/>
            </a:pPr>
            <a:r>
              <a:rPr lang="ru-RU" sz="1800" dirty="0"/>
              <a:t>7) Методы: </a:t>
            </a:r>
            <a:r>
              <a:rPr lang="en-US" sz="1800" dirty="0"/>
              <a:t>cg, </a:t>
            </a:r>
            <a:r>
              <a:rPr lang="en-US" sz="1800" dirty="0" err="1"/>
              <a:t>tfqmr</a:t>
            </a:r>
            <a:r>
              <a:rPr lang="en-US" sz="1800" dirty="0"/>
              <a:t>, </a:t>
            </a:r>
            <a:r>
              <a:rPr lang="en-US" sz="1800" dirty="0" err="1"/>
              <a:t>gmres</a:t>
            </a:r>
            <a:r>
              <a:rPr lang="en-US" sz="1800" dirty="0"/>
              <a:t> </a:t>
            </a:r>
            <a:r>
              <a:rPr lang="ru-RU" sz="1800" dirty="0" err="1"/>
              <a:t>Предобуславливатели</a:t>
            </a:r>
            <a:r>
              <a:rPr lang="ru-RU" sz="1800" dirty="0"/>
              <a:t>: </a:t>
            </a:r>
            <a:r>
              <a:rPr lang="en-US" sz="1800" dirty="0"/>
              <a:t>none, </a:t>
            </a:r>
            <a:r>
              <a:rPr lang="en-US" sz="1800" dirty="0" err="1"/>
              <a:t>sor</a:t>
            </a:r>
            <a:r>
              <a:rPr lang="en-US" sz="1800" dirty="0"/>
              <a:t>, </a:t>
            </a:r>
            <a:r>
              <a:rPr lang="en-US" sz="1800" dirty="0" err="1"/>
              <a:t>amg</a:t>
            </a:r>
            <a:r>
              <a:rPr lang="en-US" sz="1800" dirty="0"/>
              <a:t>, </a:t>
            </a:r>
            <a:r>
              <a:rPr lang="en-US" sz="1800" dirty="0" err="1"/>
              <a:t>ml_amg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628207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Дерево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Дерево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Дерево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Дерево</Template>
  <TotalTime>682</TotalTime>
  <Words>1278</Words>
  <Application>Microsoft Office PowerPoint</Application>
  <PresentationFormat>Широкоэкранный</PresentationFormat>
  <Paragraphs>156</Paragraphs>
  <Slides>17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Calibri</vt:lpstr>
      <vt:lpstr>Cambria Math</vt:lpstr>
      <vt:lpstr>Georgia</vt:lpstr>
      <vt:lpstr>Trebuchet MS</vt:lpstr>
      <vt:lpstr>Wingdings</vt:lpstr>
      <vt:lpstr>Дерево</vt:lpstr>
      <vt:lpstr>Система линейных алгебраических уравнений</vt:lpstr>
      <vt:lpstr>Математическая модель</vt:lpstr>
      <vt:lpstr>Базисные функции</vt:lpstr>
      <vt:lpstr>Система линейных алгебраических уравнений</vt:lpstr>
      <vt:lpstr>Итерационные методы</vt:lpstr>
      <vt:lpstr>Решатель Крылова с предобуславливателем</vt:lpstr>
      <vt:lpstr>Пакеты линейной алгебры</vt:lpstr>
      <vt:lpstr>Критерий остановки</vt:lpstr>
      <vt:lpstr>Критерий остановки</vt:lpstr>
      <vt:lpstr>Синтаксис вызова решения</vt:lpstr>
      <vt:lpstr>Линейные решатели</vt:lpstr>
      <vt:lpstr>Предобуславливатели</vt:lpstr>
      <vt:lpstr>Список доступных решателей и предобуславливателей</vt:lpstr>
      <vt:lpstr>Задания</vt:lpstr>
      <vt:lpstr>Варианты уравнений</vt:lpstr>
      <vt:lpstr>Варианты граничных условий</vt:lpstr>
      <vt:lpstr>Варианты методов и предобуславливателей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Kellerman</dc:creator>
  <cp:lastModifiedBy>Алексей Тырылгин</cp:lastModifiedBy>
  <cp:revision>58</cp:revision>
  <dcterms:created xsi:type="dcterms:W3CDTF">2022-10-09T10:49:43Z</dcterms:created>
  <dcterms:modified xsi:type="dcterms:W3CDTF">2024-10-28T13:11:27Z</dcterms:modified>
</cp:coreProperties>
</file>