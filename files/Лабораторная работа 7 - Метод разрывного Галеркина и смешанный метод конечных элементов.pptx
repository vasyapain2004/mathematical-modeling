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2"/>
  </p:notesMasterIdLst>
  <p:sldIdLst>
    <p:sldId id="256" r:id="rId2"/>
    <p:sldId id="329" r:id="rId3"/>
    <p:sldId id="319" r:id="rId4"/>
    <p:sldId id="322" r:id="rId5"/>
    <p:sldId id="327" r:id="rId6"/>
    <p:sldId id="328" r:id="rId7"/>
    <p:sldId id="320" r:id="rId8"/>
    <p:sldId id="257" r:id="rId9"/>
    <p:sldId id="330" r:id="rId10"/>
    <p:sldId id="331" r:id="rId11"/>
    <p:sldId id="332" r:id="rId12"/>
    <p:sldId id="333" r:id="rId13"/>
    <p:sldId id="334" r:id="rId14"/>
    <p:sldId id="336" r:id="rId15"/>
    <p:sldId id="335" r:id="rId16"/>
    <p:sldId id="337" r:id="rId17"/>
    <p:sldId id="270" r:id="rId18"/>
    <p:sldId id="271" r:id="rId19"/>
    <p:sldId id="272" r:id="rId20"/>
    <p:sldId id="28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93" autoAdjust="0"/>
  </p:normalViewPr>
  <p:slideViewPr>
    <p:cSldViewPr snapToGrid="0">
      <p:cViewPr>
        <p:scale>
          <a:sx n="75" d="100"/>
          <a:sy n="75" d="100"/>
        </p:scale>
        <p:origin x="-4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CEC10-C05A-47AA-82D6-D3BC4BF6D467}" type="datetimeFigureOut">
              <a:rPr lang="ru-RU" smtClean="0"/>
              <a:t>01.12.2023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E8E2C-279F-4670-83CE-281DEC4E5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276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01.12.2023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44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01.12.2023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99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083CA84-5427-410A-9B6F-78174845156C}" type="datetimeFigureOut">
              <a:rPr lang="ru-RU" smtClean="0"/>
              <a:t>01.12.2023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16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01.12.2023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07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01.12.2023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02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01.12.2023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14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01.12.2023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99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01.12.2023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42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01.12.2023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91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01.12.2023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09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01.12.2023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1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083CA84-5427-410A-9B6F-78174845156C}" type="datetimeFigureOut">
              <a:rPr lang="ru-RU" smtClean="0"/>
              <a:t>01.12.2023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46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2BC1B-B54C-4AF6-A758-A8E007EFD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10088880" cy="3035808"/>
          </a:xfrm>
        </p:spPr>
        <p:txBody>
          <a:bodyPr/>
          <a:lstStyle/>
          <a:p>
            <a:r>
              <a:rPr lang="ru-RU" sz="4800" dirty="0"/>
              <a:t>Разрывный метод Галеркина и смешанный метод конечных элементов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CFB13B-C16D-4407-BB11-F48A25659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355929"/>
            <a:ext cx="7891272" cy="1069848"/>
          </a:xfrm>
        </p:spPr>
        <p:txBody>
          <a:bodyPr/>
          <a:lstStyle/>
          <a:p>
            <a:r>
              <a:rPr lang="ru-RU" dirty="0"/>
              <a:t>Алексеев Валентин Николаевич</a:t>
            </a:r>
          </a:p>
        </p:txBody>
      </p:sp>
    </p:spTree>
    <p:extLst>
      <p:ext uri="{BB962C8B-B14F-4D97-AF65-F5344CB8AC3E}">
        <p14:creationId xmlns:p14="http://schemas.microsoft.com/office/powerpoint/2010/main" val="15702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2BC1B-B54C-4AF6-A758-A8E007EFD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10088880" cy="3035808"/>
          </a:xfrm>
        </p:spPr>
        <p:txBody>
          <a:bodyPr/>
          <a:lstStyle/>
          <a:p>
            <a:r>
              <a:rPr lang="ru-RU" sz="4800" dirty="0"/>
              <a:t>Разрывный метод Галеркина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CFB13B-C16D-4407-BB11-F48A25659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355929"/>
            <a:ext cx="7891272" cy="1069848"/>
          </a:xfrm>
        </p:spPr>
        <p:txBody>
          <a:bodyPr/>
          <a:lstStyle/>
          <a:p>
            <a:r>
              <a:rPr lang="ru-RU" dirty="0"/>
              <a:t>Алексеев Валентин Николаевич</a:t>
            </a:r>
          </a:p>
        </p:txBody>
      </p:sp>
    </p:spTree>
    <p:extLst>
      <p:ext uri="{BB962C8B-B14F-4D97-AF65-F5344CB8AC3E}">
        <p14:creationId xmlns:p14="http://schemas.microsoft.com/office/powerpoint/2010/main" val="1559352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9" y="2121408"/>
                <a:ext cx="5379077" cy="405079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Рассмотрим эллиптическое уравнение в двумерной постановке в области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ru-RU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ru-RU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/>
                  <a:t>Уравнение дополняется следующими граничными условиями: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b="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9" y="2121408"/>
                <a:ext cx="5379077" cy="4050792"/>
              </a:xfrm>
              <a:blipFill>
                <a:blip r:embed="rId2"/>
                <a:stretch>
                  <a:fillRect l="-1814" t="-2105" r="-5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C9450E-93CB-4EB0-B833-89039D487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912" y="2121408"/>
            <a:ext cx="322897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062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Конечно-элементная аппроксимация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800" dirty="0"/>
                  <a:t>Для аппроксимации на расчетной сетке будем использовать разрывный метод Галеркина.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расчетная сетка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множество внутренних граней. Пусть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грань между двумя элементами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ru-RU" sz="28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800" dirty="0"/>
                  <a:t> скачок и перемещение для функции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определим следующим образом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dirty="0"/>
              </a:p>
              <a:p>
                <a:pPr marL="274320" lvl="1" indent="0">
                  <a:buNone/>
                </a:pPr>
                <a:r>
                  <a:rPr lang="ru-RU" sz="28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80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ru-RU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sub>
                    </m:sSub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2406" r="-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83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Конечно-элементная аппроксимация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400" dirty="0"/>
                  <a:t>Запишем вариационную постановку задачи с использованием разрывного метода Галеркина (</a:t>
                </a:r>
                <a:r>
                  <a:rPr lang="en-US" sz="2400" dirty="0"/>
                  <a:t>IPDG, Interior Penalty Discontinuous </a:t>
                </a:r>
                <a:r>
                  <a:rPr lang="en-US" sz="2400" dirty="0" err="1"/>
                  <a:t>Galerkin</a:t>
                </a:r>
                <a:r>
                  <a:rPr lang="en-US" sz="2400" dirty="0"/>
                  <a:t>): </a:t>
                </a:r>
                <a:r>
                  <a:rPr lang="ru-RU" sz="2400" dirty="0"/>
                  <a:t>найти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такую, что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ru-RU" sz="2400" dirty="0"/>
                  <a:t>где</a:t>
                </a: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/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𝑣𝑑𝑥</m:t>
                            </m:r>
                          </m:e>
                        </m:nary>
                      </m:e>
                    </m:nary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/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dirty="0" smtClean="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𝑑𝑠</m:t>
                            </m:r>
                          </m:e>
                        </m:nary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−−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/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𝑑𝑠</m:t>
                            </m:r>
                          </m:e>
                        </m:nary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den>
                            </m:f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𝑑𝑠</m:t>
                            </m:r>
                          </m:e>
                        </m:nary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−−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𝑣𝑑𝑠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  <m:sup/>
                              <m:e>
                                <m:nary>
                                  <m:naryPr>
                                    <m:supHide m:val="o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  <m:sup/>
                                  <m:e>
                                    <m:f>
                                      <m:f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num>
                                      <m:den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𝑘𝑢𝑣𝑑𝑠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r>
                  <a:rPr lang="en-US" sz="2800" dirty="0"/>
                  <a:t>  </a:t>
                </a:r>
                <a:endParaRPr lang="ru-RU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2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879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Конечно-элементная аппроксимация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400" dirty="0"/>
                  <a:t>Запишем вариационную постановку задачи с использованием разрывного метода Галеркина (</a:t>
                </a:r>
                <a:r>
                  <a:rPr lang="en-US" sz="2400" dirty="0"/>
                  <a:t>IPDG, Interior Penalty Discontinuous </a:t>
                </a:r>
                <a:r>
                  <a:rPr lang="en-US" sz="2400" dirty="0" err="1"/>
                  <a:t>Galerkin</a:t>
                </a:r>
                <a:r>
                  <a:rPr lang="en-US" sz="2400" dirty="0"/>
                  <a:t>): </a:t>
                </a:r>
                <a:r>
                  <a:rPr lang="ru-RU" sz="2400" dirty="0"/>
                  <a:t>найти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такую, что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ru-RU" sz="2400" dirty="0"/>
                  <a:t>где</a:t>
                </a: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/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𝑓𝑣𝑑𝑥</m:t>
                            </m:r>
                          </m:e>
                        </m:nary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𝑣𝑑𝑠</m:t>
                            </m:r>
                          </m:e>
                        </m:nary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𝑑𝑠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  <m:sup/>
                              <m:e>
                                <m:nary>
                                  <m:naryPr>
                                    <m:supHide m:val="o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  <m:sup/>
                                  <m:e>
                                    <m:f>
                                      <m:f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num>
                                      <m:den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𝑣𝑑𝑠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r>
                  <a:rPr lang="en-US" sz="2800" dirty="0"/>
                  <a:t>  </a:t>
                </a:r>
              </a:p>
              <a:p>
                <a:pPr marL="274320" lvl="1" indent="0">
                  <a:buNone/>
                </a:pPr>
                <a:r>
                  <a:rPr lang="ru-RU" sz="2800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800" dirty="0"/>
                  <a:t> нормаль к ребру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параметр штрафа для стабилизации решения.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2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8476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Вычислительная реализация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73890F7D-FF37-4F38-8E9A-CEA492BA9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928741"/>
            <a:ext cx="4924425" cy="469219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2060"/>
                </a:solidFill>
              </a:rPr>
              <a:t>from</a:t>
            </a:r>
            <a:r>
              <a:rPr lang="en-US" sz="1200" dirty="0"/>
              <a:t> </a:t>
            </a:r>
            <a:r>
              <a:rPr lang="en-US" sz="1200" dirty="0" err="1"/>
              <a:t>dolfin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002060"/>
                </a:solidFill>
              </a:rPr>
              <a:t>import</a:t>
            </a:r>
            <a:r>
              <a:rPr lang="en-US" sz="1200" dirty="0"/>
              <a:t> *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N = 32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mesh = </a:t>
            </a:r>
            <a:r>
              <a:rPr lang="en-US" sz="1200" dirty="0" err="1"/>
              <a:t>UnitSquareMesh</a:t>
            </a:r>
            <a:r>
              <a:rPr lang="en-US" sz="1200" dirty="0"/>
              <a:t>(N, N)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k = Constant (5.0)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f = Constant (1.0)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g2 = Constant (25.0)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g1 = Constant (50.0)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class </a:t>
            </a:r>
            <a:r>
              <a:rPr lang="en-US" sz="1200" dirty="0" err="1"/>
              <a:t>DirichletBoundary</a:t>
            </a:r>
            <a:r>
              <a:rPr lang="en-US" sz="1200" dirty="0"/>
              <a:t>(</a:t>
            </a:r>
            <a:r>
              <a:rPr lang="en-US" sz="1200" dirty="0" err="1"/>
              <a:t>SubDomain</a:t>
            </a:r>
            <a:r>
              <a:rPr lang="en-US" sz="1200" dirty="0"/>
              <a:t>):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	def inside(self, x, </a:t>
            </a:r>
            <a:r>
              <a:rPr lang="en-US" sz="1200" dirty="0" err="1"/>
              <a:t>on_boundary</a:t>
            </a:r>
            <a:r>
              <a:rPr lang="en-US" sz="1200" dirty="0"/>
              <a:t> 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		return </a:t>
            </a:r>
            <a:r>
              <a:rPr lang="en-US" sz="1200" dirty="0" err="1"/>
              <a:t>on_boundary</a:t>
            </a:r>
            <a:r>
              <a:rPr lang="en-US" sz="1200" dirty="0"/>
              <a:t> and (x[0] &gt; (1.0−DOLFIN_EPS ) or x[1] &gt; (1.0−DOLFIN_EPS 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class </a:t>
            </a:r>
            <a:r>
              <a:rPr lang="en-US" sz="1200" dirty="0" err="1"/>
              <a:t>NeumanBoundary</a:t>
            </a:r>
            <a:r>
              <a:rPr lang="en-US" sz="1200" dirty="0"/>
              <a:t>(</a:t>
            </a:r>
            <a:r>
              <a:rPr lang="en-US" sz="1200" dirty="0" err="1"/>
              <a:t>SubDomain</a:t>
            </a:r>
            <a:r>
              <a:rPr lang="en-US" sz="1200" dirty="0"/>
              <a:t>):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	def inside(self, x, </a:t>
            </a:r>
            <a:r>
              <a:rPr lang="en-US" sz="1200" dirty="0" err="1"/>
              <a:t>on_boundary</a:t>
            </a:r>
            <a:r>
              <a:rPr lang="en-US" sz="1200" dirty="0"/>
              <a:t> ):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		return </a:t>
            </a:r>
            <a:r>
              <a:rPr lang="en-US" sz="1200" dirty="0" err="1"/>
              <a:t>on_boundary</a:t>
            </a:r>
            <a:r>
              <a:rPr lang="en-US" sz="1200" dirty="0"/>
              <a:t> and (x[0] &lt; DOLFIN_EPS or x[1] &lt; DOLFIN_EPS 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boundaries = </a:t>
            </a:r>
            <a:r>
              <a:rPr lang="en-US" sz="1200" dirty="0" err="1"/>
              <a:t>MeshFunction</a:t>
            </a:r>
            <a:r>
              <a:rPr lang="en-US" sz="1200" dirty="0"/>
              <a:t> ("</a:t>
            </a:r>
            <a:r>
              <a:rPr lang="en-US" sz="1200" dirty="0" err="1"/>
              <a:t>size_t</a:t>
            </a:r>
            <a:r>
              <a:rPr lang="en-US" sz="1200" dirty="0"/>
              <a:t>", mesh , 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/>
              <a:t>NeumanBoundary</a:t>
            </a:r>
            <a:r>
              <a:rPr lang="en-US" sz="1200" dirty="0"/>
              <a:t> (). mark(boundaries , 2)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/>
              <a:t>DirichletBoundary</a:t>
            </a:r>
            <a:r>
              <a:rPr lang="en-US" sz="1200" dirty="0"/>
              <a:t> (). mark(boundaries , 1)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ds = Measure(</a:t>
            </a:r>
            <a:r>
              <a:rPr lang="en-US" sz="1200" dirty="0">
                <a:solidFill>
                  <a:srgbClr val="33CC33"/>
                </a:solidFill>
              </a:rPr>
              <a:t>'ds’</a:t>
            </a:r>
            <a:r>
              <a:rPr lang="en-US" sz="1200" dirty="0"/>
              <a:t>)(domain=mesh, </a:t>
            </a:r>
            <a:r>
              <a:rPr lang="en-US" sz="1200" dirty="0" err="1"/>
              <a:t>subdomain_data</a:t>
            </a:r>
            <a:r>
              <a:rPr lang="en-US" sz="1200" dirty="0"/>
              <a:t> = boundaries</a:t>
            </a:r>
            <a:r>
              <a:rPr lang="en-US" sz="1400" dirty="0"/>
              <a:t>)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100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40BAEAE-026B-44DF-B8D0-C62E15F1F4A5}"/>
              </a:ext>
            </a:extLst>
          </p:cNvPr>
          <p:cNvSpPr txBox="1">
            <a:spLocks/>
          </p:cNvSpPr>
          <p:nvPr/>
        </p:nvSpPr>
        <p:spPr>
          <a:xfrm>
            <a:off x="6096000" y="1922985"/>
            <a:ext cx="4924425" cy="4692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V = </a:t>
            </a:r>
            <a:r>
              <a:rPr lang="en-US" sz="1200" dirty="0" err="1"/>
              <a:t>FunctionSpace</a:t>
            </a:r>
            <a:r>
              <a:rPr lang="en-US" sz="1200" dirty="0"/>
              <a:t> (mesh , </a:t>
            </a:r>
            <a:r>
              <a:rPr lang="en-US" sz="1200" dirty="0">
                <a:solidFill>
                  <a:srgbClr val="33CC33"/>
                </a:solidFill>
              </a:rPr>
              <a:t>'Lagrange'</a:t>
            </a:r>
            <a:r>
              <a:rPr lang="en-US" sz="1200" dirty="0"/>
              <a:t> , 1)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u = TrialFunction(V)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v = TestFunction(V)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nl-NL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n= FacetNormal(mesh)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h = </a:t>
            </a:r>
            <a:r>
              <a:rPr lang="en-US" sz="1200" dirty="0" err="1"/>
              <a:t>CellDiameter</a:t>
            </a:r>
            <a:r>
              <a:rPr lang="en-US" sz="1200" dirty="0"/>
              <a:t>(mesh)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/>
              <a:t>h_avg</a:t>
            </a:r>
            <a:r>
              <a:rPr lang="en-US" sz="1200" dirty="0"/>
              <a:t> = (h(‘+’)+h(‘-’))/2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alpha = 4.0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gamma = 8.0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a = inner(k*grad(u), grad(v)) * dx </a:t>
            </a:r>
            <a:r>
              <a:rPr lang="ru-RU" sz="1200" dirty="0"/>
              <a:t>\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nl-NL" sz="1200" dirty="0"/>
              <a:t>inner(avg(k*grad(v)), jump(u,n))*dS\</a:t>
            </a: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nl-NL" sz="1200" dirty="0"/>
              <a:t>inner(jump(v,n), avg(k*grad(u)))*dS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+ avg(k)*alpha/h_avg*inner(jump(v,n), jump(u,n))*dS \</a:t>
            </a: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nl-NL" sz="1200" dirty="0"/>
              <a:t>inner(k*grad(v), u*n)*ds(1) \</a:t>
            </a: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nl-NL" sz="1200" dirty="0"/>
              <a:t>inner(v*n, k*grad(u))*ds(1)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+ k*(gamma/h)*u*v*ds(1)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L = f * v * dx </a:t>
            </a:r>
            <a:r>
              <a:rPr lang="en-US" sz="1200" dirty="0"/>
              <a:t>– g1*inner(k*grad(v),n)*ds(1) + k*(gamma/h)*g1*v*ds(1)\</a:t>
            </a: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1200" dirty="0"/>
              <a:t>g2*v*ds(2)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u = Function(V)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solve(a == L, u, </a:t>
            </a:r>
            <a:r>
              <a:rPr lang="en-US" sz="1200" dirty="0" err="1"/>
              <a:t>bcs</a:t>
            </a:r>
            <a:r>
              <a:rPr lang="en-US" sz="1200" dirty="0"/>
              <a:t>)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>
                <a:solidFill>
                  <a:srgbClr val="002060"/>
                </a:solidFill>
              </a:rPr>
              <a:t>file</a:t>
            </a:r>
            <a:r>
              <a:rPr lang="en-US" sz="1200" dirty="0"/>
              <a:t> = File(</a:t>
            </a:r>
            <a:r>
              <a:rPr lang="en-US" sz="1200" dirty="0">
                <a:solidFill>
                  <a:srgbClr val="33CC33"/>
                </a:solidFill>
              </a:rPr>
              <a:t>'./</a:t>
            </a:r>
            <a:r>
              <a:rPr lang="en-US" sz="1200" dirty="0" err="1">
                <a:solidFill>
                  <a:srgbClr val="33CC33"/>
                </a:solidFill>
              </a:rPr>
              <a:t>poisson.pvd</a:t>
            </a:r>
            <a:r>
              <a:rPr lang="en-US" sz="1200" dirty="0">
                <a:solidFill>
                  <a:srgbClr val="33CC33"/>
                </a:solidFill>
              </a:rPr>
              <a:t>'</a:t>
            </a:r>
            <a:r>
              <a:rPr lang="en-US" sz="1200" dirty="0"/>
              <a:t>)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>
                <a:solidFill>
                  <a:srgbClr val="002060"/>
                </a:solidFill>
              </a:rPr>
              <a:t>file</a:t>
            </a:r>
            <a:r>
              <a:rPr lang="en-US" sz="1200" dirty="0"/>
              <a:t> &lt;&lt; u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148792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Результаты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40EA46-E302-4872-AD79-9D13BDB05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87" y="1700214"/>
            <a:ext cx="42386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53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2BC1B-B54C-4AF6-A758-A8E007EFD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10088880" cy="3035808"/>
          </a:xfrm>
        </p:spPr>
        <p:txBody>
          <a:bodyPr/>
          <a:lstStyle/>
          <a:p>
            <a:r>
              <a:rPr lang="ru-RU" sz="4800" dirty="0"/>
              <a:t>Смешанный метод конечных элементов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CFB13B-C16D-4407-BB11-F48A25659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355929"/>
            <a:ext cx="7891272" cy="1069848"/>
          </a:xfrm>
        </p:spPr>
        <p:txBody>
          <a:bodyPr/>
          <a:lstStyle/>
          <a:p>
            <a:r>
              <a:rPr lang="ru-RU" dirty="0"/>
              <a:t>Алексеев Валентин Николаевич</a:t>
            </a:r>
          </a:p>
        </p:txBody>
      </p:sp>
    </p:spTree>
    <p:extLst>
      <p:ext uri="{BB962C8B-B14F-4D97-AF65-F5344CB8AC3E}">
        <p14:creationId xmlns:p14="http://schemas.microsoft.com/office/powerpoint/2010/main" val="1068604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9" y="2121408"/>
                <a:ext cx="5379077" cy="405079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Рассмотрим эллиптическое уравнение в двумерной постановке в области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ru-RU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/>
                  <a:t>Уравнение дополняется следующими граничными условиями: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b="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9" y="2121408"/>
                <a:ext cx="5379077" cy="4050792"/>
              </a:xfrm>
              <a:blipFill>
                <a:blip r:embed="rId2"/>
                <a:stretch>
                  <a:fillRect l="-1814" t="-2105" r="-5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12112F-680C-4420-84EA-A0F493FA7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71" y="1772539"/>
            <a:ext cx="3717396" cy="386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17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9" y="2121408"/>
                <a:ext cx="5379077" cy="405079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Пусть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запишем уравнение с использованием смешанной формулировки: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b="0" dirty="0"/>
              </a:p>
              <a:p>
                <a:pPr marL="0" indent="0">
                  <a:buNone/>
                </a:pPr>
                <a:r>
                  <a:rPr lang="ru-RU" sz="2400" dirty="0"/>
                  <a:t>со следующими граничными условиями: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9" y="2121408"/>
                <a:ext cx="5379077" cy="4050792"/>
              </a:xfrm>
              <a:blipFill>
                <a:blip r:embed="rId2"/>
                <a:stretch>
                  <a:fillRect l="-1814" t="-2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12112F-680C-4420-84EA-A0F493FA7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71" y="1772539"/>
            <a:ext cx="3717396" cy="386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57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Конечно-элементная аппроксимация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400" dirty="0"/>
                  <a:t>Для задания вариационной постановки определим пространства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dirty="0"/>
              </a:p>
              <a:p>
                <a:pPr marL="274320" lvl="1" indent="0">
                  <a:buNone/>
                </a:pPr>
                <a:r>
                  <a:rPr lang="ru-RU" sz="2400" dirty="0"/>
                  <a:t>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Также определим пространство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как подпространство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400" dirty="0"/>
                  <a:t> которое содержит поле векторов с нулевой скоростью</a:t>
                </a:r>
                <a:r>
                  <a:rPr lang="en-US" sz="2400" dirty="0"/>
                  <a:t> </a:t>
                </a:r>
                <a:r>
                  <a:rPr lang="ru-RU" sz="2400" dirty="0"/>
                  <a:t>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ru-RU" sz="2400" dirty="0"/>
                  <a:t>Для аппроксимации смешанным методом конечных элементов умножим на тестовые функции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400" b="0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𝑓𝑣𝑑𝑥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2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5865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Конечно-элементная аппроксимация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800" dirty="0"/>
                  <a:t>Поскольку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𝑟𝑑𝑥</m:t>
                          </m:r>
                        </m:e>
                      </m:nary>
                      <m:r>
                        <a:rPr lang="ru-RU" sz="2800" b="0" i="0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supHide m:val="on"/>
                          <m:ctrlPr>
                            <a:rPr lang="ru-RU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𝑟𝑑𝑥</m:t>
                          </m:r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𝑛𝑑𝑠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274320" lvl="1" indent="0">
                  <a:buNone/>
                </a:pPr>
                <a:r>
                  <a:rPr lang="ru-RU" sz="2800" dirty="0"/>
                  <a:t>получим следующую вариационную постановку задачи: найти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такие, что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 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dirty="0"/>
              </a:p>
              <a:p>
                <a:pPr marL="274320" lvl="1" indent="0">
                  <a:buNone/>
                </a:pPr>
                <a:r>
                  <a:rPr lang="ru-RU" sz="2800" dirty="0"/>
                  <a:t>где</a:t>
                </a: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𝑟𝑑𝑥</m:t>
                        </m:r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𝑞𝑑𝑥</m:t>
                        </m:r>
                      </m:e>
                    </m:nary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𝑓𝑣𝑑𝑥</m:t>
                        </m:r>
                      </m:e>
                    </m:nary>
                  </m:oMath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24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698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Конечно-элементная аппроксимация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207751" cy="4050792"/>
          </a:xfrm>
        </p:spPr>
        <p:txBody>
          <a:bodyPr>
            <a:noAutofit/>
          </a:bodyPr>
          <a:lstStyle/>
          <a:p>
            <a:pPr algn="l"/>
            <a:r>
              <a:rPr lang="ru-RU" sz="2800" b="0" i="0" u="none" strike="noStrike" baseline="0" dirty="0">
                <a:latin typeface="AntiquaPSCyr-Regular"/>
              </a:rPr>
              <a:t>В качестве базисных функций для поля скоростей будем использовать элементы</a:t>
            </a:r>
            <a:r>
              <a:rPr lang="en-US" sz="2800" b="0" i="0" u="none" strike="noStrike" baseline="0" dirty="0">
                <a:latin typeface="AntiquaPSCyr-Regular"/>
              </a:rPr>
              <a:t> </a:t>
            </a:r>
            <a:r>
              <a:rPr lang="ru-RU" sz="2800" b="0" i="0" u="none" strike="noStrike" baseline="0" dirty="0" err="1">
                <a:latin typeface="AntiquaPSCyr-Regular"/>
              </a:rPr>
              <a:t>Равиа</a:t>
            </a:r>
            <a:r>
              <a:rPr lang="ru-RU" sz="2800" dirty="0" err="1">
                <a:latin typeface="AntiquaPSCyr-Regular"/>
              </a:rPr>
              <a:t>т</a:t>
            </a:r>
            <a:r>
              <a:rPr lang="ru-RU" sz="2800" b="0" i="0" u="none" strike="noStrike" baseline="0" dirty="0">
                <a:latin typeface="AntiquaPSCyr-Regular"/>
              </a:rPr>
              <a:t>-Тома (RT, </a:t>
            </a:r>
            <a:r>
              <a:rPr lang="ru-RU" sz="2800" b="0" i="0" u="none" strike="noStrike" baseline="0" dirty="0" err="1">
                <a:latin typeface="AntiquaPSCyr-Regular"/>
              </a:rPr>
              <a:t>Raviart</a:t>
            </a:r>
            <a:r>
              <a:rPr lang="ru-RU" sz="2800" b="0" i="0" u="none" strike="noStrike" baseline="0" dirty="0">
                <a:latin typeface="AntiquaPSCyr-Regular"/>
              </a:rPr>
              <a:t>-Thomas) и кусочно-постоянные функции для давления, удовлетворяющие LBB (</a:t>
            </a:r>
            <a:r>
              <a:rPr lang="ru-RU" sz="2800" b="0" i="0" u="none" strike="noStrike" baseline="0" dirty="0" err="1">
                <a:latin typeface="AntiquaPSCyr-Regular"/>
              </a:rPr>
              <a:t>inf-sup</a:t>
            </a:r>
            <a:r>
              <a:rPr lang="ru-RU" sz="2800" b="0" i="0" u="none" strike="noStrike" baseline="0" dirty="0">
                <a:latin typeface="AntiquaPSCyr-Regular"/>
              </a:rPr>
              <a:t>) условию.</a:t>
            </a:r>
            <a:endParaRPr lang="ru-RU" sz="4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BFE1ED-C8E4-4044-81DC-F3E38AFA6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390" y="3734137"/>
            <a:ext cx="6810355" cy="310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97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Вычислительная реализация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73890F7D-FF37-4F38-8E9A-CEA492BA9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928741"/>
            <a:ext cx="4924425" cy="469219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2060"/>
                </a:solidFill>
              </a:rPr>
              <a:t>from</a:t>
            </a:r>
            <a:r>
              <a:rPr lang="en-US" sz="1200" dirty="0"/>
              <a:t> </a:t>
            </a:r>
            <a:r>
              <a:rPr lang="en-US" sz="1200" dirty="0" err="1"/>
              <a:t>dolfin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002060"/>
                </a:solidFill>
              </a:rPr>
              <a:t>import</a:t>
            </a:r>
            <a:r>
              <a:rPr lang="en-US" sz="1200" dirty="0"/>
              <a:t> *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mesh = Mesh(“mesh.xml”)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boundaries = </a:t>
            </a:r>
            <a:r>
              <a:rPr lang="en-US" sz="1200" dirty="0" err="1"/>
              <a:t>MeshFunction</a:t>
            </a:r>
            <a:r>
              <a:rPr lang="en-US" sz="1200" dirty="0"/>
              <a:t>(“</a:t>
            </a:r>
            <a:r>
              <a:rPr lang="en-US" sz="1200" dirty="0" err="1"/>
              <a:t>size_t</a:t>
            </a:r>
            <a:r>
              <a:rPr lang="en-US" sz="1200" dirty="0"/>
              <a:t>”, mesh, “mesh_facet_region.xml”)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f = Constant (1.0)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kinv = Constant(1.0)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g2 = Constant ((0.0, 0.0))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g1 = Constant (0.0)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r-FR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V = VectorFunctionSpace(</a:t>
            </a:r>
            <a:r>
              <a:rPr lang="en-US" sz="1200" dirty="0"/>
              <a:t>mesh, “CG”, 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P = </a:t>
            </a:r>
            <a:r>
              <a:rPr lang="en-US" sz="1200" dirty="0" err="1"/>
              <a:t>FunctionSpace</a:t>
            </a:r>
            <a:r>
              <a:rPr lang="en-US" sz="1200" dirty="0"/>
              <a:t>(mesh, “CG</a:t>
            </a:r>
            <a:r>
              <a:rPr lang="en-US" sz="1200"/>
              <a:t>”, 1)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W = V*P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(q, u) = </a:t>
            </a:r>
            <a:r>
              <a:rPr lang="en-US" sz="1200" dirty="0" err="1"/>
              <a:t>TrialFunctions</a:t>
            </a:r>
            <a:r>
              <a:rPr lang="en-US" sz="1200" dirty="0"/>
              <a:t>(W)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(r, v) = </a:t>
            </a:r>
            <a:r>
              <a:rPr lang="en-US" sz="1200" dirty="0" err="1"/>
              <a:t>TestFunctions</a:t>
            </a:r>
            <a:r>
              <a:rPr lang="en-US" sz="1200" dirty="0"/>
              <a:t>(W)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1200" dirty="0"/>
              <a:t>n= FacetNormal(mesh)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r-FR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ds = Measure(</a:t>
            </a:r>
            <a:r>
              <a:rPr lang="en-US" sz="1200" dirty="0">
                <a:solidFill>
                  <a:srgbClr val="33CC33"/>
                </a:solidFill>
              </a:rPr>
              <a:t>'ds’</a:t>
            </a:r>
            <a:r>
              <a:rPr lang="en-US" sz="1200" dirty="0"/>
              <a:t>)(domain=mesh, </a:t>
            </a:r>
            <a:r>
              <a:rPr lang="en-US" sz="1200" dirty="0" err="1"/>
              <a:t>subdomain_data</a:t>
            </a:r>
            <a:r>
              <a:rPr lang="en-US" sz="1200" dirty="0"/>
              <a:t> = boundaries</a:t>
            </a:r>
            <a:r>
              <a:rPr lang="en-US" sz="1400" dirty="0"/>
              <a:t>)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100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40BAEAE-026B-44DF-B8D0-C62E15F1F4A5}"/>
              </a:ext>
            </a:extLst>
          </p:cNvPr>
          <p:cNvSpPr txBox="1">
            <a:spLocks/>
          </p:cNvSpPr>
          <p:nvPr/>
        </p:nvSpPr>
        <p:spPr>
          <a:xfrm>
            <a:off x="6096000" y="1922985"/>
            <a:ext cx="4924425" cy="4692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/>
              <a:t>bc</a:t>
            </a:r>
            <a:r>
              <a:rPr lang="en-US" sz="1200" dirty="0"/>
              <a:t> = </a:t>
            </a:r>
            <a:r>
              <a:rPr lang="en-US" sz="1200" dirty="0" err="1"/>
              <a:t>DirichletBC</a:t>
            </a:r>
            <a:r>
              <a:rPr lang="en-US" sz="1200" dirty="0"/>
              <a:t>(</a:t>
            </a:r>
            <a:r>
              <a:rPr lang="en-US" sz="1200" dirty="0" err="1"/>
              <a:t>W.sub</a:t>
            </a:r>
            <a:r>
              <a:rPr lang="en-US" sz="1200" dirty="0"/>
              <a:t>(0), g2, boundaries, 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a </a:t>
            </a:r>
            <a:r>
              <a:rPr lang="en-US" sz="1200" dirty="0"/>
              <a:t>= inner(</a:t>
            </a:r>
            <a:r>
              <a:rPr lang="en-US" sz="1200" dirty="0" err="1"/>
              <a:t>kinv</a:t>
            </a:r>
            <a:r>
              <a:rPr lang="en-US" sz="1200" dirty="0"/>
              <a:t>*q, r)*dx + div(r)*u*dx + div(q)*v*dx</a:t>
            </a:r>
            <a:endParaRPr lang="nl-NL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L = f * v * dx </a:t>
            </a:r>
            <a:r>
              <a:rPr lang="en-US" sz="1200" dirty="0"/>
              <a:t>+ g1*inner(</a:t>
            </a:r>
            <a:r>
              <a:rPr lang="en-US" sz="1200" dirty="0" err="1"/>
              <a:t>r,n</a:t>
            </a:r>
            <a:r>
              <a:rPr lang="en-US" sz="1200" dirty="0"/>
              <a:t>)*ds(1)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w = Function(W)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solve(a == L, w, </a:t>
            </a:r>
            <a:r>
              <a:rPr lang="en-US" sz="1200" dirty="0" err="1"/>
              <a:t>bcs</a:t>
            </a:r>
            <a:r>
              <a:rPr lang="en-US" sz="1200" dirty="0"/>
              <a:t>)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(</a:t>
            </a:r>
            <a:r>
              <a:rPr lang="en-US" sz="1200" dirty="0" err="1"/>
              <a:t>q,u</a:t>
            </a:r>
            <a:r>
              <a:rPr lang="en-US" sz="1200" dirty="0"/>
              <a:t>) = </a:t>
            </a:r>
            <a:r>
              <a:rPr lang="en-US" sz="1200" dirty="0" err="1"/>
              <a:t>w.split</a:t>
            </a:r>
            <a:r>
              <a:rPr lang="en-US" sz="1200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>
                <a:solidFill>
                  <a:srgbClr val="002060"/>
                </a:solidFill>
              </a:rPr>
              <a:t>fileq</a:t>
            </a:r>
            <a:r>
              <a:rPr lang="en-US" sz="1200" dirty="0"/>
              <a:t> = File(</a:t>
            </a:r>
            <a:r>
              <a:rPr lang="en-US" sz="1200" dirty="0">
                <a:solidFill>
                  <a:srgbClr val="33CC33"/>
                </a:solidFill>
              </a:rPr>
              <a:t>‘./results/</a:t>
            </a:r>
            <a:r>
              <a:rPr lang="en-US" sz="1200" dirty="0" err="1">
                <a:solidFill>
                  <a:srgbClr val="33CC33"/>
                </a:solidFill>
              </a:rPr>
              <a:t>q.pvd</a:t>
            </a:r>
            <a:r>
              <a:rPr lang="en-US" sz="1200" dirty="0">
                <a:solidFill>
                  <a:srgbClr val="33CC33"/>
                </a:solidFill>
              </a:rPr>
              <a:t>’</a:t>
            </a:r>
            <a:r>
              <a:rPr lang="en-US" sz="1200" dirty="0"/>
              <a:t>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>
                <a:solidFill>
                  <a:srgbClr val="002060"/>
                </a:solidFill>
              </a:rPr>
              <a:t>fileu</a:t>
            </a:r>
            <a:r>
              <a:rPr lang="en-US" sz="1200" dirty="0"/>
              <a:t> = File(</a:t>
            </a:r>
            <a:r>
              <a:rPr lang="en-US" sz="1200" dirty="0">
                <a:solidFill>
                  <a:srgbClr val="33CC33"/>
                </a:solidFill>
              </a:rPr>
              <a:t>‘./results/</a:t>
            </a:r>
            <a:r>
              <a:rPr lang="en-US" sz="1200" dirty="0" err="1">
                <a:solidFill>
                  <a:srgbClr val="33CC33"/>
                </a:solidFill>
              </a:rPr>
              <a:t>u.pvd</a:t>
            </a:r>
            <a:r>
              <a:rPr lang="en-US" sz="1200" dirty="0">
                <a:solidFill>
                  <a:srgbClr val="33CC33"/>
                </a:solidFill>
              </a:rPr>
              <a:t>’</a:t>
            </a:r>
            <a:r>
              <a:rPr lang="en-US" sz="1200" dirty="0"/>
              <a:t>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>
                <a:solidFill>
                  <a:srgbClr val="002060"/>
                </a:solidFill>
              </a:rPr>
              <a:t>fileq</a:t>
            </a:r>
            <a:r>
              <a:rPr lang="en-US" sz="1200" dirty="0"/>
              <a:t> &lt;&lt; q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>
                <a:solidFill>
                  <a:srgbClr val="002060"/>
                </a:solidFill>
              </a:rPr>
              <a:t>fileu</a:t>
            </a:r>
            <a:r>
              <a:rPr lang="en-US" sz="1200" dirty="0"/>
              <a:t> &lt;&lt; u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523042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Результаты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81DD36-81F1-4186-883B-467E25D19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114" y="1711394"/>
            <a:ext cx="8703772" cy="343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53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2F13C-9AA4-4ED0-A144-3A2930236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Варианты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C13851-9DBD-4E75-B520-41A343B475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891"/>
          <a:stretch/>
        </p:blipFill>
        <p:spPr>
          <a:xfrm>
            <a:off x="1063752" y="2093976"/>
            <a:ext cx="5231871" cy="381385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4D3AED-BF61-4833-8C0A-A0E9E25B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23" y="2093976"/>
            <a:ext cx="469582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33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2F13C-9AA4-4ED0-A144-3A2930236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Варианты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1441A1-A83E-4BCF-BAFA-34F48148A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45" y="2119376"/>
            <a:ext cx="4676775" cy="147637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1046D9-D9EC-4C11-B136-251B7D714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45" y="3429000"/>
            <a:ext cx="4714875" cy="29622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A258B8-C282-4095-A5F8-C070F6966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512" y="2019300"/>
            <a:ext cx="4600575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1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2F13C-9AA4-4ED0-A144-3A2930236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Варианты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DB683B-595D-4583-8AA4-01C07FF7A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170" y="2211832"/>
            <a:ext cx="7583660" cy="373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56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Задания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752" y="1960987"/>
                <a:ext cx="10336089" cy="4050792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120000"/>
                  </a:lnSpc>
                  <a:buAutoNum type="arabicPeriod"/>
                </a:pPr>
                <a:r>
                  <a:rPr lang="ru-RU" sz="2800" dirty="0"/>
                  <a:t>Реализовать решение задачи с использованием разрывного метода Галеркина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marL="457200" indent="-457200">
                  <a:lnSpc>
                    <a:spcPct val="120000"/>
                  </a:lnSpc>
                  <a:buAutoNum type="arabicPeriod"/>
                </a:pPr>
                <a:r>
                  <a:rPr lang="ru-RU" sz="2800" dirty="0"/>
                  <a:t>Реализовать решение задачи с использованием смешанного метода конечных элементов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endParaRPr lang="ru-RU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752" y="1960987"/>
                <a:ext cx="10336089" cy="4050792"/>
              </a:xfrm>
              <a:blipFill>
                <a:blip r:embed="rId2"/>
                <a:stretch>
                  <a:fillRect l="-885" t="-6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3821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Дерево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987</TotalTime>
  <Words>1082</Words>
  <Application>Microsoft Office PowerPoint</Application>
  <PresentationFormat>Широкоэкранный</PresentationFormat>
  <Paragraphs>155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AntiquaPSCyr-Regular</vt:lpstr>
      <vt:lpstr>Calibri</vt:lpstr>
      <vt:lpstr>Cambria Math</vt:lpstr>
      <vt:lpstr>Georgia</vt:lpstr>
      <vt:lpstr>Trebuchet MS</vt:lpstr>
      <vt:lpstr>Wingdings</vt:lpstr>
      <vt:lpstr>Дерево</vt:lpstr>
      <vt:lpstr>Разрывный метод Галеркина и смешанный метод конечных элементов</vt:lpstr>
      <vt:lpstr>Разрывный метод Галеркина</vt:lpstr>
      <vt:lpstr>Математическая модель</vt:lpstr>
      <vt:lpstr>Конечно-элементная аппроксимация</vt:lpstr>
      <vt:lpstr>Конечно-элементная аппроксимация</vt:lpstr>
      <vt:lpstr>Конечно-элементная аппроксимация</vt:lpstr>
      <vt:lpstr>Вычислительная реализация</vt:lpstr>
      <vt:lpstr>Результаты</vt:lpstr>
      <vt:lpstr>Смешанный метод конечных элементов</vt:lpstr>
      <vt:lpstr>Математическая модель</vt:lpstr>
      <vt:lpstr>Математическая модель</vt:lpstr>
      <vt:lpstr>Конечно-элементная аппроксимация</vt:lpstr>
      <vt:lpstr>Конечно-элементная аппроксимация</vt:lpstr>
      <vt:lpstr>Конечно-элементная аппроксимация</vt:lpstr>
      <vt:lpstr>Вычислительная реализация</vt:lpstr>
      <vt:lpstr>Результаты</vt:lpstr>
      <vt:lpstr>Варианты</vt:lpstr>
      <vt:lpstr>Варианты</vt:lpstr>
      <vt:lpstr>Варианты</vt:lpstr>
      <vt:lpstr>Задания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Kellerman</dc:creator>
  <cp:lastModifiedBy>Алексей Тырылгин</cp:lastModifiedBy>
  <cp:revision>75</cp:revision>
  <dcterms:created xsi:type="dcterms:W3CDTF">2022-10-09T10:49:43Z</dcterms:created>
  <dcterms:modified xsi:type="dcterms:W3CDTF">2023-12-01T01:20:01Z</dcterms:modified>
</cp:coreProperties>
</file>